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business outcome, not the technology. The point of the demo is that relationship-rich Dynamics 365 data can be brought into Fabric using a supported Microsoft path, reconstructed as a native property graph, and made available for visual exploration, GQL, analytics, and AI grounding.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gap between copying tables and preserving business context. Traditional extraction answers where the rows are; graph answers how customers, orders, products, invoices, contacts, and service cases connect.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working proof, not a conceptual architecture. Emphasize that all numbers shown were validated against persisted Fabric data and GQL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Dataverse remains the operational system of record. The generated landing Lakehouse is read-only. All solution-owned transformations write to the curated Lakehouse. The Graph Model reads managed typed projections.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uses standard Account and Contact plus five custom business tables. This mirrors the implementation pattern without claiming to reproduce a specific customer schema or a licensed first-party Dynamics 365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supported bootstrap step. It is performed in Power Apps. The workspace identity removes user-password and client-secret dependencies. The generated landing artifacts remain platform-managed and read-only.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implementations adapt graph-mapping.json after source discovery. The transformation engine is stable. Candidate lookup names handle differences between Dataverse Web API and linked Delta schemas.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out typed IDs, deterministic edges, and fail-fast validation. This prevents collisions between tables that use GUIDs and avoids silently publishing incomplete relationship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unified tables are convenient for broad analysis and downstream SQL. The typed managed projections are required to bind each graph type unambiguously and make a future ontology straightforward.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represents the actual demo topology. In the live demo, open gm_d365_relationships, switch to Query mode, and run the complete-graph query. The user can pan, expand, and inspect each connected record.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sequence during the live meeting. Keep the first pass business-focused. Only open code after the audience understands the path and visual result.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graph query syntax follows the business path directly. Backticks are needed for GQL reserved names in this demo. The query was executed successfully against the live Fabric Graph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handoff slide. Everything is configuration-driven and public. The deployment files with real tenant and workspace identifiers are deliberately excluded from source control.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production caveat. The integration preserves data and relationships, but authorization must be intentionally designed at each Fabric consumption surface.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this as a validated accelerator, not a turnkey migration. A production engagement starts with source discovery and then hardens mapping, security, scale, operations, and lifecycle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ontology question directly. Graph is the right visualization and query surface. Ontology is additive when the organization needs governed business vocabulary, rules, actions, cross-domain consistency, or agent grounding.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three points: the path is supported, relationship meaning is preserved, and the implementation is reusable. Invite the next conversation around mapping the target source schema and production requirements.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github.com/nickTinMicrosoft/d365-fabric-graph-demo"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046720" y="-365760"/>
            <a:ext cx="4754880" cy="7589520"/>
          </a:xfrm>
          <a:prstGeom prst="rect">
            <a:avLst/>
          </a:prstGeom>
          <a:solidFill>
            <a:srgbClr val="141F36"/>
          </a:solidFill>
          <a:ln w="12700">
            <a:solidFill>
              <a:srgbClr val="141F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005840"/>
            <a:ext cx="502920" cy="502920"/>
          </a:xfrm>
          <a:prstGeom prst="ellipse">
            <a:avLst/>
          </a:prstGeom>
          <a:solidFill>
            <a:srgbClr val="7456EB"/>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8842248" y="1252728"/>
            <a:ext cx="1463040" cy="640080"/>
          </a:xfrm>
          <a:prstGeom prst="line">
            <a:avLst/>
          </a:prstGeom>
          <a:ln w="25400">
            <a:solidFill>
              <a:srgbClr val="AAB6CC"/>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0058400" y="1645920"/>
            <a:ext cx="502920" cy="502920"/>
          </a:xfrm>
          <a:prstGeom prst="ellipse">
            <a:avLst/>
          </a:prstGeom>
          <a:solidFill>
            <a:srgbClr val="1CBEB8"/>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flipH="1">
            <a:off x="9208008" y="1892808"/>
            <a:ext cx="1097280" cy="1097280"/>
          </a:xfrm>
          <a:prstGeom prst="line">
            <a:avLst/>
          </a:prstGeom>
          <a:ln w="25400">
            <a:solidFill>
              <a:srgbClr val="AAB6CC"/>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961120" y="2743200"/>
            <a:ext cx="502920" cy="502920"/>
          </a:xfrm>
          <a:prstGeom prst="ellipse">
            <a:avLst/>
          </a:prstGeom>
          <a:solidFill>
            <a:srgbClr val="3584E4"/>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9208008" y="2990088"/>
            <a:ext cx="1645920" cy="548640"/>
          </a:xfrm>
          <a:prstGeom prst="line">
            <a:avLst/>
          </a:prstGeom>
          <a:ln w="25400">
            <a:solidFill>
              <a:srgbClr val="AAB6CC"/>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607040" y="3291840"/>
            <a:ext cx="502920" cy="502920"/>
          </a:xfrm>
          <a:prstGeom prst="ellipse">
            <a:avLst/>
          </a:prstGeom>
          <a:solidFill>
            <a:srgbClr val="F59E0B"/>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H="1">
            <a:off x="9665208" y="3538728"/>
            <a:ext cx="1188720" cy="1280160"/>
          </a:xfrm>
          <a:prstGeom prst="line">
            <a:avLst/>
          </a:prstGeom>
          <a:ln w="25400">
            <a:solidFill>
              <a:srgbClr val="AAB6CC"/>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9418320" y="4572000"/>
            <a:ext cx="502920" cy="502920"/>
          </a:xfrm>
          <a:prstGeom prst="ellipse">
            <a:avLst/>
          </a:prstGeom>
          <a:solidFill>
            <a:srgbClr val="A78BFA"/>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9665208" y="4818888"/>
            <a:ext cx="1645920" cy="548639"/>
          </a:xfrm>
          <a:prstGeom prst="line">
            <a:avLst/>
          </a:prstGeom>
          <a:ln w="25400">
            <a:solidFill>
              <a:srgbClr val="AAB6CC"/>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1064240" y="5120640"/>
            <a:ext cx="502920" cy="502920"/>
          </a:xfrm>
          <a:prstGeom prst="ellipse">
            <a:avLst/>
          </a:prstGeom>
          <a:solidFill>
            <a:srgbClr val="2EA44F"/>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94360"/>
            <a:ext cx="6309360" cy="274320"/>
          </a:xfrm>
          <a:prstGeom prst="rect">
            <a:avLst/>
          </a:prstGeom>
          <a:noFill/>
        </p:spPr>
        <p:txBody>
          <a:bodyPr wrap="square" lIns="27432" rIns="27432" tIns="27432" bIns="27432" anchor="t">
            <a:spAutoFit/>
          </a:bodyPr>
          <a:lstStyle/>
          <a:p>
            <a:pPr algn="l">
              <a:defRPr sz="1100" b="1">
                <a:solidFill>
                  <a:srgbClr val="A78BFA"/>
                </a:solidFill>
                <a:latin typeface="Aptos"/>
              </a:defRPr>
            </a:pPr>
            <a:r>
              <a:t>MICROSOFT FABRIC REFERENCE DEMO</a:t>
            </a:r>
          </a:p>
        </p:txBody>
      </p:sp>
      <p:sp>
        <p:nvSpPr>
          <p:cNvPr id="15" name="TextBox 14"/>
          <p:cNvSpPr txBox="1"/>
          <p:nvPr/>
        </p:nvSpPr>
        <p:spPr>
          <a:xfrm>
            <a:off x="685800" y="1234440"/>
            <a:ext cx="6949440" cy="2148840"/>
          </a:xfrm>
          <a:prstGeom prst="rect">
            <a:avLst/>
          </a:prstGeom>
          <a:noFill/>
        </p:spPr>
        <p:txBody>
          <a:bodyPr wrap="square" lIns="27432" rIns="27432" tIns="27432" bIns="27432" anchor="t">
            <a:spAutoFit/>
          </a:bodyPr>
          <a:lstStyle/>
          <a:p>
            <a:pPr algn="l">
              <a:defRPr sz="3400" b="1">
                <a:solidFill>
                  <a:srgbClr val="F6F8FC"/>
                </a:solidFill>
                <a:latin typeface="Aptos"/>
              </a:defRPr>
            </a:pPr>
            <a:r>
              <a:t>From Dynamics 365</a:t>
            </a:r>
            <a:br/>
            <a:r>
              <a:t>relationships to a</a:t>
            </a:r>
            <a:br/>
            <a:r>
              <a:t>native Fabric graph</a:t>
            </a:r>
          </a:p>
        </p:txBody>
      </p:sp>
      <p:sp>
        <p:nvSpPr>
          <p:cNvPr id="16" name="TextBox 15"/>
          <p:cNvSpPr txBox="1"/>
          <p:nvPr/>
        </p:nvSpPr>
        <p:spPr>
          <a:xfrm>
            <a:off x="713232" y="3794760"/>
            <a:ext cx="6492240" cy="822960"/>
          </a:xfrm>
          <a:prstGeom prst="rect">
            <a:avLst/>
          </a:prstGeom>
          <a:noFill/>
        </p:spPr>
        <p:txBody>
          <a:bodyPr wrap="square" lIns="27432" rIns="27432" tIns="27432" bIns="27432" anchor="t">
            <a:spAutoFit/>
          </a:bodyPr>
          <a:lstStyle/>
          <a:p>
            <a:pPr algn="l">
              <a:defRPr sz="1800" b="0">
                <a:solidFill>
                  <a:srgbClr val="E7ECF5"/>
                </a:solidFill>
                <a:latin typeface="Aptos"/>
              </a:defRPr>
            </a:pPr>
            <a:r>
              <a:t>A supported pattern for preserving business context,</a:t>
            </a:r>
            <a:br/>
            <a:r>
              <a:t>visualizing connections, and enabling graph-aware AI.</a:t>
            </a:r>
          </a:p>
        </p:txBody>
      </p:sp>
      <p:sp>
        <p:nvSpPr>
          <p:cNvPr id="17" name="Rounded Rectangle 16"/>
          <p:cNvSpPr/>
          <p:nvPr/>
        </p:nvSpPr>
        <p:spPr>
          <a:xfrm>
            <a:off x="713232" y="4983480"/>
            <a:ext cx="1188720" cy="292608"/>
          </a:xfrm>
          <a:prstGeom prst="roundRect">
            <a:avLst/>
          </a:prstGeom>
          <a:solidFill>
            <a:srgbClr val="7456EB"/>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4992624"/>
            <a:ext cx="1188720" cy="256032"/>
          </a:xfrm>
          <a:prstGeom prst="rect">
            <a:avLst/>
          </a:prstGeom>
          <a:noFill/>
        </p:spPr>
        <p:txBody>
          <a:bodyPr wrap="square" lIns="27432" rIns="27432" tIns="27432" bIns="27432" anchor="ctr">
            <a:spAutoFit/>
          </a:bodyPr>
          <a:lstStyle/>
          <a:p>
            <a:pPr algn="ctr">
              <a:defRPr sz="1100" b="1">
                <a:solidFill>
                  <a:srgbClr val="F6F8FC"/>
                </a:solidFill>
                <a:latin typeface="Aptos"/>
              </a:defRPr>
            </a:pPr>
            <a:r>
              <a:t>20 nodes</a:t>
            </a:r>
          </a:p>
        </p:txBody>
      </p:sp>
      <p:sp>
        <p:nvSpPr>
          <p:cNvPr id="19" name="Rounded Rectangle 18"/>
          <p:cNvSpPr/>
          <p:nvPr/>
        </p:nvSpPr>
        <p:spPr>
          <a:xfrm>
            <a:off x="2029968" y="4983480"/>
            <a:ext cx="1188720" cy="292608"/>
          </a:xfrm>
          <a:prstGeom prst="roundRect">
            <a:avLst/>
          </a:prstGeom>
          <a:solidFill>
            <a:srgbClr val="1CBEB8"/>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29968" y="4992624"/>
            <a:ext cx="1188720" cy="256032"/>
          </a:xfrm>
          <a:prstGeom prst="rect">
            <a:avLst/>
          </a:prstGeom>
          <a:noFill/>
        </p:spPr>
        <p:txBody>
          <a:bodyPr wrap="square" lIns="27432" rIns="27432" tIns="27432" bIns="27432" anchor="ctr">
            <a:spAutoFit/>
          </a:bodyPr>
          <a:lstStyle/>
          <a:p>
            <a:pPr algn="ctr">
              <a:defRPr sz="1100" b="1">
                <a:solidFill>
                  <a:srgbClr val="F6F8FC"/>
                </a:solidFill>
                <a:latin typeface="Aptos"/>
              </a:defRPr>
            </a:pPr>
            <a:r>
              <a:t>20 edges</a:t>
            </a:r>
          </a:p>
        </p:txBody>
      </p:sp>
      <p:sp>
        <p:nvSpPr>
          <p:cNvPr id="21" name="Rounded Rectangle 20"/>
          <p:cNvSpPr/>
          <p:nvPr/>
        </p:nvSpPr>
        <p:spPr>
          <a:xfrm>
            <a:off x="3346704" y="4983480"/>
            <a:ext cx="1417320" cy="292608"/>
          </a:xfrm>
          <a:prstGeom prst="roundRect">
            <a:avLst/>
          </a:prstGeom>
          <a:solidFill>
            <a:srgbClr val="3584E4"/>
          </a:solidFill>
          <a:ln w="12700">
            <a:solidFill>
              <a:srgbClr val="358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46704" y="4992624"/>
            <a:ext cx="1417320" cy="256032"/>
          </a:xfrm>
          <a:prstGeom prst="rect">
            <a:avLst/>
          </a:prstGeom>
          <a:noFill/>
        </p:spPr>
        <p:txBody>
          <a:bodyPr wrap="square" lIns="27432" rIns="27432" tIns="27432" bIns="27432" anchor="ctr">
            <a:spAutoFit/>
          </a:bodyPr>
          <a:lstStyle/>
          <a:p>
            <a:pPr algn="ctr">
              <a:defRPr sz="1100" b="1">
                <a:solidFill>
                  <a:srgbClr val="F6F8FC"/>
                </a:solidFill>
                <a:latin typeface="Aptos"/>
              </a:defRPr>
            </a:pPr>
            <a:r>
              <a:t>7 entity types</a:t>
            </a:r>
          </a:p>
        </p:txBody>
      </p:sp>
      <p:sp>
        <p:nvSpPr>
          <p:cNvPr id="23" name="Rounded Rectangle 22"/>
          <p:cNvSpPr/>
          <p:nvPr/>
        </p:nvSpPr>
        <p:spPr>
          <a:xfrm>
            <a:off x="4910328" y="4983480"/>
            <a:ext cx="1645920" cy="292608"/>
          </a:xfrm>
          <a:prstGeom prst="round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10328" y="4992624"/>
            <a:ext cx="1645920" cy="256032"/>
          </a:xfrm>
          <a:prstGeom prst="rect">
            <a:avLst/>
          </a:prstGeom>
          <a:noFill/>
        </p:spPr>
        <p:txBody>
          <a:bodyPr wrap="square" lIns="27432" rIns="27432" tIns="27432" bIns="27432" anchor="ctr">
            <a:spAutoFit/>
          </a:bodyPr>
          <a:lstStyle/>
          <a:p>
            <a:pPr algn="ctr">
              <a:defRPr sz="1100" b="1">
                <a:solidFill>
                  <a:srgbClr val="F6F8FC"/>
                </a:solidFill>
                <a:latin typeface="Aptos"/>
              </a:defRPr>
            </a:pPr>
            <a:r>
              <a:t>4 validated paths</a:t>
            </a:r>
          </a:p>
        </p:txBody>
      </p:sp>
      <p:sp>
        <p:nvSpPr>
          <p:cNvPr id="25" name="TextBox 24"/>
          <p:cNvSpPr txBox="1"/>
          <p:nvPr/>
        </p:nvSpPr>
        <p:spPr>
          <a:xfrm>
            <a:off x="713232" y="6217920"/>
            <a:ext cx="1828800" cy="228600"/>
          </a:xfrm>
          <a:prstGeom prst="rect">
            <a:avLst/>
          </a:prstGeom>
          <a:noFill/>
        </p:spPr>
        <p:txBody>
          <a:bodyPr wrap="square" lIns="27432" rIns="27432" tIns="27432" bIns="27432" anchor="t">
            <a:spAutoFit/>
          </a:bodyPr>
          <a:lstStyle/>
          <a:p>
            <a:pPr algn="l">
              <a:defRPr sz="1000" b="0">
                <a:solidFill>
                  <a:srgbClr val="AAB6CC"/>
                </a:solidFill>
                <a:latin typeface="Aptos"/>
              </a:defRPr>
            </a:pPr>
            <a: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BUSINESS CHALLENGE</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The need: preserve the relationships, not just the rows</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02</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TextBox 6"/>
          <p:cNvSpPr txBox="1"/>
          <p:nvPr/>
        </p:nvSpPr>
        <p:spPr>
          <a:xfrm>
            <a:off x="640080" y="1554480"/>
            <a:ext cx="5486400" cy="502920"/>
          </a:xfrm>
          <a:prstGeom prst="rect">
            <a:avLst/>
          </a:prstGeom>
          <a:noFill/>
        </p:spPr>
        <p:txBody>
          <a:bodyPr wrap="square" lIns="27432" rIns="27432" tIns="27432" bIns="27432" anchor="t">
            <a:spAutoFit/>
          </a:bodyPr>
          <a:lstStyle/>
          <a:p>
            <a:pPr algn="l">
              <a:defRPr sz="2300" b="1">
                <a:solidFill>
                  <a:srgbClr val="F6F8FC"/>
                </a:solidFill>
                <a:latin typeface="Aptos"/>
              </a:defRPr>
            </a:pPr>
            <a:r>
              <a:t>Operational systems already know how the business is connected.</a:t>
            </a:r>
          </a:p>
        </p:txBody>
      </p:sp>
      <p:sp>
        <p:nvSpPr>
          <p:cNvPr id="8" name="TextBox 7"/>
          <p:cNvSpPr txBox="1"/>
          <p:nvPr/>
        </p:nvSpPr>
        <p:spPr>
          <a:xfrm>
            <a:off x="685800" y="2240280"/>
            <a:ext cx="5486400" cy="2926080"/>
          </a:xfrm>
          <a:prstGeom prst="rect">
            <a:avLst/>
          </a:prstGeom>
          <a:noFill/>
        </p:spPr>
        <p:txBody>
          <a:bodyPr wrap="square" lIns="27432" rIns="27432">
            <a:spAutoFit/>
          </a:bodyPr>
          <a:lstStyle/>
          <a:p>
            <a:pPr>
              <a:spcAft>
                <a:spcPts val="800"/>
              </a:spcAft>
              <a:defRPr sz="1700">
                <a:solidFill>
                  <a:srgbClr val="E7ECF5"/>
                </a:solidFill>
                <a:latin typeface="Aptos"/>
              </a:defRPr>
            </a:pPr>
            <a:r>
              <a:t>•  Dynamics 365 stores entities, keys, and lookup relationships.</a:t>
            </a:r>
          </a:p>
          <a:p>
            <a:pPr>
              <a:spcAft>
                <a:spcPts val="800"/>
              </a:spcAft>
              <a:defRPr sz="1700">
                <a:solidFill>
                  <a:srgbClr val="E7ECF5"/>
                </a:solidFill>
                <a:latin typeface="Aptos"/>
              </a:defRPr>
            </a:pPr>
            <a:r>
              <a:t>•  Analytics copies often flatten those relationships into repeated joins.</a:t>
            </a:r>
          </a:p>
          <a:p>
            <a:pPr>
              <a:spcAft>
                <a:spcPts val="800"/>
              </a:spcAft>
              <a:defRPr sz="1700">
                <a:solidFill>
                  <a:srgbClr val="E7ECF5"/>
                </a:solidFill>
                <a:latin typeface="Aptos"/>
              </a:defRPr>
            </a:pPr>
            <a:r>
              <a:t>•  Multi-hop questions become slow to build, hard to govern, and difficult for AI.</a:t>
            </a:r>
          </a:p>
          <a:p>
            <a:pPr>
              <a:spcAft>
                <a:spcPts val="800"/>
              </a:spcAft>
              <a:defRPr sz="1700">
                <a:solidFill>
                  <a:srgbClr val="E7ECF5"/>
                </a:solidFill>
                <a:latin typeface="Aptos"/>
              </a:defRPr>
            </a:pPr>
            <a:r>
              <a:t>•  Teams need a reusable business context layer—not another isolated export.</a:t>
            </a:r>
          </a:p>
        </p:txBody>
      </p:sp>
      <p:sp>
        <p:nvSpPr>
          <p:cNvPr id="9" name="Rounded Rectangle 8"/>
          <p:cNvSpPr/>
          <p:nvPr/>
        </p:nvSpPr>
        <p:spPr>
          <a:xfrm>
            <a:off x="6629400" y="1600200"/>
            <a:ext cx="4892040" cy="4343400"/>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1901952"/>
            <a:ext cx="4160520" cy="365760"/>
          </a:xfrm>
          <a:prstGeom prst="rect">
            <a:avLst/>
          </a:prstGeom>
          <a:noFill/>
        </p:spPr>
        <p:txBody>
          <a:bodyPr wrap="square" lIns="27432" rIns="27432" tIns="27432" bIns="27432" anchor="t">
            <a:spAutoFit/>
          </a:bodyPr>
          <a:lstStyle/>
          <a:p>
            <a:pPr algn="l">
              <a:defRPr sz="1700" b="1">
                <a:solidFill>
                  <a:srgbClr val="A78BFA"/>
                </a:solidFill>
                <a:latin typeface="Aptos"/>
              </a:defRPr>
            </a:pPr>
            <a:r>
              <a:t>Questions the graph should answer</a:t>
            </a:r>
          </a:p>
        </p:txBody>
      </p:sp>
      <p:sp>
        <p:nvSpPr>
          <p:cNvPr id="11" name="Oval 10"/>
          <p:cNvSpPr/>
          <p:nvPr/>
        </p:nvSpPr>
        <p:spPr>
          <a:xfrm>
            <a:off x="6995160" y="2468880"/>
            <a:ext cx="384048" cy="384048"/>
          </a:xfrm>
          <a:prstGeom prst="ellipse">
            <a:avLst/>
          </a:prstGeom>
          <a:solidFill>
            <a:srgbClr val="7456EB"/>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2542032"/>
            <a:ext cx="384048" cy="164592"/>
          </a:xfrm>
          <a:prstGeom prst="rect">
            <a:avLst/>
          </a:prstGeom>
          <a:noFill/>
        </p:spPr>
        <p:txBody>
          <a:bodyPr wrap="square" lIns="27432" rIns="27432" tIns="27432" bIns="27432" anchor="t">
            <a:spAutoFit/>
          </a:bodyPr>
          <a:lstStyle/>
          <a:p>
            <a:pPr algn="ctr">
              <a:defRPr sz="800" b="1">
                <a:solidFill>
                  <a:srgbClr val="F6F8FC"/>
                </a:solidFill>
                <a:latin typeface="Aptos"/>
              </a:defRPr>
            </a:pPr>
            <a:r>
              <a:t>01</a:t>
            </a:r>
          </a:p>
        </p:txBody>
      </p:sp>
      <p:sp>
        <p:nvSpPr>
          <p:cNvPr id="13" name="TextBox 12"/>
          <p:cNvSpPr txBox="1"/>
          <p:nvPr/>
        </p:nvSpPr>
        <p:spPr>
          <a:xfrm>
            <a:off x="7543800" y="2450592"/>
            <a:ext cx="3611880" cy="502920"/>
          </a:xfrm>
          <a:prstGeom prst="rect">
            <a:avLst/>
          </a:prstGeom>
          <a:noFill/>
        </p:spPr>
        <p:txBody>
          <a:bodyPr wrap="square" lIns="27432" rIns="27432" tIns="27432" bIns="27432" anchor="t">
            <a:spAutoFit/>
          </a:bodyPr>
          <a:lstStyle/>
          <a:p>
            <a:pPr algn="l">
              <a:defRPr sz="1300" b="1">
                <a:solidFill>
                  <a:srgbClr val="E7ECF5"/>
                </a:solidFill>
                <a:latin typeface="Aptos"/>
              </a:defRPr>
            </a:pPr>
            <a:r>
              <a:t>Which products are connected to each account through active orders?</a:t>
            </a:r>
          </a:p>
        </p:txBody>
      </p:sp>
      <p:sp>
        <p:nvSpPr>
          <p:cNvPr id="14" name="Oval 13"/>
          <p:cNvSpPr/>
          <p:nvPr/>
        </p:nvSpPr>
        <p:spPr>
          <a:xfrm>
            <a:off x="6995160" y="3264408"/>
            <a:ext cx="384048" cy="384048"/>
          </a:xfrm>
          <a:prstGeom prst="ellipse">
            <a:avLst/>
          </a:prstGeom>
          <a:solidFill>
            <a:srgbClr val="7456EB"/>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3337560"/>
            <a:ext cx="384048" cy="164592"/>
          </a:xfrm>
          <a:prstGeom prst="rect">
            <a:avLst/>
          </a:prstGeom>
          <a:noFill/>
        </p:spPr>
        <p:txBody>
          <a:bodyPr wrap="square" lIns="27432" rIns="27432" tIns="27432" bIns="27432" anchor="t">
            <a:spAutoFit/>
          </a:bodyPr>
          <a:lstStyle/>
          <a:p>
            <a:pPr algn="ctr">
              <a:defRPr sz="800" b="1">
                <a:solidFill>
                  <a:srgbClr val="F6F8FC"/>
                </a:solidFill>
                <a:latin typeface="Aptos"/>
              </a:defRPr>
            </a:pPr>
            <a:r>
              <a:t>02</a:t>
            </a:r>
          </a:p>
        </p:txBody>
      </p:sp>
      <p:sp>
        <p:nvSpPr>
          <p:cNvPr id="16" name="TextBox 15"/>
          <p:cNvSpPr txBox="1"/>
          <p:nvPr/>
        </p:nvSpPr>
        <p:spPr>
          <a:xfrm>
            <a:off x="7543800" y="3246120"/>
            <a:ext cx="3611880" cy="502920"/>
          </a:xfrm>
          <a:prstGeom prst="rect">
            <a:avLst/>
          </a:prstGeom>
          <a:noFill/>
        </p:spPr>
        <p:txBody>
          <a:bodyPr wrap="square" lIns="27432" rIns="27432" tIns="27432" bIns="27432" anchor="t">
            <a:spAutoFit/>
          </a:bodyPr>
          <a:lstStyle/>
          <a:p>
            <a:pPr algn="l">
              <a:defRPr sz="1300" b="0">
                <a:solidFill>
                  <a:srgbClr val="E7ECF5"/>
                </a:solidFill>
                <a:latin typeface="Aptos"/>
              </a:defRPr>
            </a:pPr>
            <a:r>
              <a:t>Which contacts and service cases are part of the same customer context?</a:t>
            </a:r>
          </a:p>
        </p:txBody>
      </p:sp>
      <p:sp>
        <p:nvSpPr>
          <p:cNvPr id="17" name="Oval 16"/>
          <p:cNvSpPr/>
          <p:nvPr/>
        </p:nvSpPr>
        <p:spPr>
          <a:xfrm>
            <a:off x="6995160" y="4059936"/>
            <a:ext cx="384048" cy="384048"/>
          </a:xfrm>
          <a:prstGeom prst="ellipse">
            <a:avLst/>
          </a:prstGeom>
          <a:solidFill>
            <a:srgbClr val="1CBEB8"/>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4133088"/>
            <a:ext cx="384048" cy="164592"/>
          </a:xfrm>
          <a:prstGeom prst="rect">
            <a:avLst/>
          </a:prstGeom>
          <a:noFill/>
        </p:spPr>
        <p:txBody>
          <a:bodyPr wrap="square" lIns="27432" rIns="27432" tIns="27432" bIns="27432" anchor="t">
            <a:spAutoFit/>
          </a:bodyPr>
          <a:lstStyle/>
          <a:p>
            <a:pPr algn="ctr">
              <a:defRPr sz="800" b="1">
                <a:solidFill>
                  <a:srgbClr val="F6F8FC"/>
                </a:solidFill>
                <a:latin typeface="Aptos"/>
              </a:defRPr>
            </a:pPr>
            <a:r>
              <a:t>03</a:t>
            </a:r>
          </a:p>
        </p:txBody>
      </p:sp>
      <p:sp>
        <p:nvSpPr>
          <p:cNvPr id="19" name="TextBox 18"/>
          <p:cNvSpPr txBox="1"/>
          <p:nvPr/>
        </p:nvSpPr>
        <p:spPr>
          <a:xfrm>
            <a:off x="7543800" y="4041648"/>
            <a:ext cx="3611880" cy="502920"/>
          </a:xfrm>
          <a:prstGeom prst="rect">
            <a:avLst/>
          </a:prstGeom>
          <a:noFill/>
        </p:spPr>
        <p:txBody>
          <a:bodyPr wrap="square" lIns="27432" rIns="27432" tIns="27432" bIns="27432" anchor="t">
            <a:spAutoFit/>
          </a:bodyPr>
          <a:lstStyle/>
          <a:p>
            <a:pPr algn="l">
              <a:defRPr sz="1300" b="0">
                <a:solidFill>
                  <a:srgbClr val="E7ECF5"/>
                </a:solidFill>
                <a:latin typeface="Aptos"/>
              </a:defRPr>
            </a:pPr>
            <a:r>
              <a:t>What multi-hop paths explain an invoice, issue, or outcome?</a:t>
            </a:r>
          </a:p>
        </p:txBody>
      </p:sp>
      <p:sp>
        <p:nvSpPr>
          <p:cNvPr id="20" name="Oval 19"/>
          <p:cNvSpPr/>
          <p:nvPr/>
        </p:nvSpPr>
        <p:spPr>
          <a:xfrm>
            <a:off x="6995160" y="4855464"/>
            <a:ext cx="384048" cy="384048"/>
          </a:xfrm>
          <a:prstGeom prst="ellipse">
            <a:avLst/>
          </a:prstGeom>
          <a:solidFill>
            <a:srgbClr val="1CBEB8"/>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60" y="4928616"/>
            <a:ext cx="384048" cy="164592"/>
          </a:xfrm>
          <a:prstGeom prst="rect">
            <a:avLst/>
          </a:prstGeom>
          <a:noFill/>
        </p:spPr>
        <p:txBody>
          <a:bodyPr wrap="square" lIns="27432" rIns="27432" tIns="27432" bIns="27432" anchor="t">
            <a:spAutoFit/>
          </a:bodyPr>
          <a:lstStyle/>
          <a:p>
            <a:pPr algn="ctr">
              <a:defRPr sz="800" b="1">
                <a:solidFill>
                  <a:srgbClr val="F6F8FC"/>
                </a:solidFill>
                <a:latin typeface="Aptos"/>
              </a:defRPr>
            </a:pPr>
            <a:r>
              <a:t>04</a:t>
            </a:r>
          </a:p>
        </p:txBody>
      </p:sp>
      <p:sp>
        <p:nvSpPr>
          <p:cNvPr id="22" name="TextBox 21"/>
          <p:cNvSpPr txBox="1"/>
          <p:nvPr/>
        </p:nvSpPr>
        <p:spPr>
          <a:xfrm>
            <a:off x="7543800" y="4837176"/>
            <a:ext cx="3611880" cy="502920"/>
          </a:xfrm>
          <a:prstGeom prst="rect">
            <a:avLst/>
          </a:prstGeom>
          <a:noFill/>
        </p:spPr>
        <p:txBody>
          <a:bodyPr wrap="square" lIns="27432" rIns="27432" tIns="27432" bIns="27432" anchor="t">
            <a:spAutoFit/>
          </a:bodyPr>
          <a:lstStyle/>
          <a:p>
            <a:pPr algn="l">
              <a:defRPr sz="1300" b="0">
                <a:solidFill>
                  <a:srgbClr val="E7ECF5"/>
                </a:solidFill>
                <a:latin typeface="Aptos"/>
              </a:defRPr>
            </a:pPr>
            <a:r>
              <a:t>Can an agent reason over those connections using governed Fabric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VALIDATED OUTCOME</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What the demonstration proves</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03</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685800" y="1600200"/>
            <a:ext cx="2423160" cy="1024128"/>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28216"/>
            <a:ext cx="2057400" cy="420624"/>
          </a:xfrm>
          <a:prstGeom prst="rect">
            <a:avLst/>
          </a:prstGeom>
          <a:noFill/>
        </p:spPr>
        <p:txBody>
          <a:bodyPr wrap="square" lIns="27432" rIns="27432" tIns="27432" bIns="27432" anchor="t">
            <a:spAutoFit/>
          </a:bodyPr>
          <a:lstStyle/>
          <a:p>
            <a:pPr algn="l">
              <a:defRPr sz="2800" b="1">
                <a:solidFill>
                  <a:srgbClr val="A78BFA"/>
                </a:solidFill>
                <a:latin typeface="Aptos"/>
              </a:defRPr>
            </a:pPr>
            <a:r>
              <a:t>20</a:t>
            </a:r>
          </a:p>
        </p:txBody>
      </p:sp>
      <p:sp>
        <p:nvSpPr>
          <p:cNvPr id="9" name="TextBox 8"/>
          <p:cNvSpPr txBox="1"/>
          <p:nvPr/>
        </p:nvSpPr>
        <p:spPr>
          <a:xfrm>
            <a:off x="868680" y="2240280"/>
            <a:ext cx="2057400" cy="219456"/>
          </a:xfrm>
          <a:prstGeom prst="rect">
            <a:avLst/>
          </a:prstGeom>
          <a:noFill/>
        </p:spPr>
        <p:txBody>
          <a:bodyPr wrap="square" lIns="27432" rIns="27432" tIns="27432" bIns="27432" anchor="t">
            <a:spAutoFit/>
          </a:bodyPr>
          <a:lstStyle/>
          <a:p>
            <a:pPr algn="l">
              <a:defRPr sz="1100" b="1">
                <a:solidFill>
                  <a:srgbClr val="AAB6CC"/>
                </a:solidFill>
                <a:latin typeface="Aptos"/>
              </a:defRPr>
            </a:pPr>
            <a:r>
              <a:t>CURATED NODES</a:t>
            </a:r>
          </a:p>
        </p:txBody>
      </p:sp>
      <p:sp>
        <p:nvSpPr>
          <p:cNvPr id="10" name="Rounded Rectangle 9"/>
          <p:cNvSpPr/>
          <p:nvPr/>
        </p:nvSpPr>
        <p:spPr>
          <a:xfrm>
            <a:off x="3273552" y="1600200"/>
            <a:ext cx="2423160" cy="1024128"/>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728216"/>
            <a:ext cx="2057400" cy="420624"/>
          </a:xfrm>
          <a:prstGeom prst="rect">
            <a:avLst/>
          </a:prstGeom>
          <a:noFill/>
        </p:spPr>
        <p:txBody>
          <a:bodyPr wrap="square" lIns="27432" rIns="27432" tIns="27432" bIns="27432" anchor="t">
            <a:spAutoFit/>
          </a:bodyPr>
          <a:lstStyle/>
          <a:p>
            <a:pPr algn="l">
              <a:defRPr sz="2800" b="1">
                <a:solidFill>
                  <a:srgbClr val="1CBEB8"/>
                </a:solidFill>
                <a:latin typeface="Aptos"/>
              </a:defRPr>
            </a:pPr>
            <a:r>
              <a:t>20</a:t>
            </a:r>
          </a:p>
        </p:txBody>
      </p:sp>
      <p:sp>
        <p:nvSpPr>
          <p:cNvPr id="12" name="TextBox 11"/>
          <p:cNvSpPr txBox="1"/>
          <p:nvPr/>
        </p:nvSpPr>
        <p:spPr>
          <a:xfrm>
            <a:off x="3456432" y="2240280"/>
            <a:ext cx="2057400" cy="219456"/>
          </a:xfrm>
          <a:prstGeom prst="rect">
            <a:avLst/>
          </a:prstGeom>
          <a:noFill/>
        </p:spPr>
        <p:txBody>
          <a:bodyPr wrap="square" lIns="27432" rIns="27432" tIns="27432" bIns="27432" anchor="t">
            <a:spAutoFit/>
          </a:bodyPr>
          <a:lstStyle/>
          <a:p>
            <a:pPr algn="l">
              <a:defRPr sz="1100" b="1">
                <a:solidFill>
                  <a:srgbClr val="AAB6CC"/>
                </a:solidFill>
                <a:latin typeface="Aptos"/>
              </a:defRPr>
            </a:pPr>
            <a:r>
              <a:t>CURATED EDGES</a:t>
            </a:r>
          </a:p>
        </p:txBody>
      </p:sp>
      <p:sp>
        <p:nvSpPr>
          <p:cNvPr id="13" name="Rounded Rectangle 12"/>
          <p:cNvSpPr/>
          <p:nvPr/>
        </p:nvSpPr>
        <p:spPr>
          <a:xfrm>
            <a:off x="5861304" y="1600200"/>
            <a:ext cx="2423160" cy="1024128"/>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44184" y="1728216"/>
            <a:ext cx="2057400" cy="420624"/>
          </a:xfrm>
          <a:prstGeom prst="rect">
            <a:avLst/>
          </a:prstGeom>
          <a:noFill/>
        </p:spPr>
        <p:txBody>
          <a:bodyPr wrap="square" lIns="27432" rIns="27432" tIns="27432" bIns="27432" anchor="t">
            <a:spAutoFit/>
          </a:bodyPr>
          <a:lstStyle/>
          <a:p>
            <a:pPr algn="l">
              <a:defRPr sz="2800" b="1">
                <a:solidFill>
                  <a:srgbClr val="2EA44F"/>
                </a:solidFill>
                <a:latin typeface="Aptos"/>
              </a:defRPr>
            </a:pPr>
            <a:r>
              <a:t>0</a:t>
            </a:r>
          </a:p>
        </p:txBody>
      </p:sp>
      <p:sp>
        <p:nvSpPr>
          <p:cNvPr id="15" name="TextBox 14"/>
          <p:cNvSpPr txBox="1"/>
          <p:nvPr/>
        </p:nvSpPr>
        <p:spPr>
          <a:xfrm>
            <a:off x="6044184" y="2240280"/>
            <a:ext cx="2057400" cy="219456"/>
          </a:xfrm>
          <a:prstGeom prst="rect">
            <a:avLst/>
          </a:prstGeom>
          <a:noFill/>
        </p:spPr>
        <p:txBody>
          <a:bodyPr wrap="square" lIns="27432" rIns="27432" tIns="27432" bIns="27432" anchor="t">
            <a:spAutoFit/>
          </a:bodyPr>
          <a:lstStyle/>
          <a:p>
            <a:pPr algn="l">
              <a:defRPr sz="1100" b="1">
                <a:solidFill>
                  <a:srgbClr val="AAB6CC"/>
                </a:solidFill>
                <a:latin typeface="Aptos"/>
              </a:defRPr>
            </a:pPr>
            <a:r>
              <a:t>ORPHAN ENDPOINTS</a:t>
            </a:r>
          </a:p>
        </p:txBody>
      </p:sp>
      <p:sp>
        <p:nvSpPr>
          <p:cNvPr id="16" name="Rounded Rectangle 15"/>
          <p:cNvSpPr/>
          <p:nvPr/>
        </p:nvSpPr>
        <p:spPr>
          <a:xfrm>
            <a:off x="8449056" y="1600200"/>
            <a:ext cx="2423160" cy="1024128"/>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31936" y="1728216"/>
            <a:ext cx="2057400" cy="420624"/>
          </a:xfrm>
          <a:prstGeom prst="rect">
            <a:avLst/>
          </a:prstGeom>
          <a:noFill/>
        </p:spPr>
        <p:txBody>
          <a:bodyPr wrap="square" lIns="27432" rIns="27432" tIns="27432" bIns="27432" anchor="t">
            <a:spAutoFit/>
          </a:bodyPr>
          <a:lstStyle/>
          <a:p>
            <a:pPr algn="l">
              <a:defRPr sz="2800" b="1">
                <a:solidFill>
                  <a:srgbClr val="F59E0B"/>
                </a:solidFill>
                <a:latin typeface="Aptos"/>
              </a:defRPr>
            </a:pPr>
            <a:r>
              <a:t>4</a:t>
            </a:r>
          </a:p>
        </p:txBody>
      </p:sp>
      <p:sp>
        <p:nvSpPr>
          <p:cNvPr id="18" name="TextBox 17"/>
          <p:cNvSpPr txBox="1"/>
          <p:nvPr/>
        </p:nvSpPr>
        <p:spPr>
          <a:xfrm>
            <a:off x="8631936" y="2240280"/>
            <a:ext cx="2057400" cy="219456"/>
          </a:xfrm>
          <a:prstGeom prst="rect">
            <a:avLst/>
          </a:prstGeom>
          <a:noFill/>
        </p:spPr>
        <p:txBody>
          <a:bodyPr wrap="square" lIns="27432" rIns="27432" tIns="27432" bIns="27432" anchor="t">
            <a:spAutoFit/>
          </a:bodyPr>
          <a:lstStyle/>
          <a:p>
            <a:pPr algn="l">
              <a:defRPr sz="1100" b="1">
                <a:solidFill>
                  <a:srgbClr val="AAB6CC"/>
                </a:solidFill>
                <a:latin typeface="Aptos"/>
              </a:defRPr>
            </a:pPr>
            <a:r>
              <a:t>MULTI-HOP PATHS</a:t>
            </a:r>
          </a:p>
        </p:txBody>
      </p:sp>
      <p:sp>
        <p:nvSpPr>
          <p:cNvPr id="19" name="Rounded Rectangle 18"/>
          <p:cNvSpPr/>
          <p:nvPr/>
        </p:nvSpPr>
        <p:spPr>
          <a:xfrm>
            <a:off x="685800" y="3063240"/>
            <a:ext cx="5257800" cy="1078992"/>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209544"/>
            <a:ext cx="155448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SUPPORTED LINK</a:t>
            </a:r>
          </a:p>
        </p:txBody>
      </p:sp>
      <p:sp>
        <p:nvSpPr>
          <p:cNvPr id="21" name="TextBox 20"/>
          <p:cNvSpPr txBox="1"/>
          <p:nvPr/>
        </p:nvSpPr>
        <p:spPr>
          <a:xfrm>
            <a:off x="2377440" y="3191256"/>
            <a:ext cx="3246120" cy="658368"/>
          </a:xfrm>
          <a:prstGeom prst="rect">
            <a:avLst/>
          </a:prstGeom>
          <a:noFill/>
        </p:spPr>
        <p:txBody>
          <a:bodyPr wrap="square" lIns="27432" rIns="27432" tIns="27432" bIns="27432" anchor="t">
            <a:spAutoFit/>
          </a:bodyPr>
          <a:lstStyle/>
          <a:p>
            <a:pPr algn="l">
              <a:defRPr sz="1300" b="0">
                <a:solidFill>
                  <a:srgbClr val="E7ECF5"/>
                </a:solidFill>
                <a:latin typeface="Aptos"/>
              </a:defRPr>
            </a:pPr>
            <a:r>
              <a:t>Dataverse Link to Fabric synchronizes selected source tables into OneLake.</a:t>
            </a:r>
          </a:p>
        </p:txBody>
      </p:sp>
      <p:sp>
        <p:nvSpPr>
          <p:cNvPr id="22" name="Rounded Rectangle 21"/>
          <p:cNvSpPr/>
          <p:nvPr/>
        </p:nvSpPr>
        <p:spPr>
          <a:xfrm>
            <a:off x="6217920" y="3063240"/>
            <a:ext cx="5257800" cy="1078992"/>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3209544"/>
            <a:ext cx="1554480" cy="228600"/>
          </a:xfrm>
          <a:prstGeom prst="rect">
            <a:avLst/>
          </a:prstGeom>
          <a:noFill/>
        </p:spPr>
        <p:txBody>
          <a:bodyPr wrap="square" lIns="27432" rIns="27432" tIns="27432" bIns="27432" anchor="t">
            <a:spAutoFit/>
          </a:bodyPr>
          <a:lstStyle/>
          <a:p>
            <a:pPr algn="l">
              <a:defRPr sz="1000" b="1">
                <a:solidFill>
                  <a:srgbClr val="1CBEB8"/>
                </a:solidFill>
                <a:latin typeface="Aptos"/>
              </a:defRPr>
            </a:pPr>
            <a:r>
              <a:t>REPEATABLE BUILD</a:t>
            </a:r>
          </a:p>
        </p:txBody>
      </p:sp>
      <p:sp>
        <p:nvSpPr>
          <p:cNvPr id="24" name="TextBox 23"/>
          <p:cNvSpPr txBox="1"/>
          <p:nvPr/>
        </p:nvSpPr>
        <p:spPr>
          <a:xfrm>
            <a:off x="7909560" y="3191256"/>
            <a:ext cx="3246120" cy="658368"/>
          </a:xfrm>
          <a:prstGeom prst="rect">
            <a:avLst/>
          </a:prstGeom>
          <a:noFill/>
        </p:spPr>
        <p:txBody>
          <a:bodyPr wrap="square" lIns="27432" rIns="27432" tIns="27432" bIns="27432" anchor="t">
            <a:spAutoFit/>
          </a:bodyPr>
          <a:lstStyle/>
          <a:p>
            <a:pPr algn="l">
              <a:defRPr sz="1300" b="0">
                <a:solidFill>
                  <a:srgbClr val="E7ECF5"/>
                </a:solidFill>
                <a:latin typeface="Aptos"/>
              </a:defRPr>
            </a:pPr>
            <a:r>
              <a:t>A mapping-driven Spark notebook reconstructs typed nodes and directed edges.</a:t>
            </a:r>
          </a:p>
        </p:txBody>
      </p:sp>
      <p:sp>
        <p:nvSpPr>
          <p:cNvPr id="25" name="Rounded Rectangle 24"/>
          <p:cNvSpPr/>
          <p:nvPr/>
        </p:nvSpPr>
        <p:spPr>
          <a:xfrm>
            <a:off x="685800" y="4416552"/>
            <a:ext cx="5257800" cy="1078992"/>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4562856"/>
            <a:ext cx="155448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NATIVE GRAPH</a:t>
            </a:r>
          </a:p>
        </p:txBody>
      </p:sp>
      <p:sp>
        <p:nvSpPr>
          <p:cNvPr id="27" name="TextBox 26"/>
          <p:cNvSpPr txBox="1"/>
          <p:nvPr/>
        </p:nvSpPr>
        <p:spPr>
          <a:xfrm>
            <a:off x="2377440" y="4544568"/>
            <a:ext cx="3246120" cy="658368"/>
          </a:xfrm>
          <a:prstGeom prst="rect">
            <a:avLst/>
          </a:prstGeom>
          <a:noFill/>
        </p:spPr>
        <p:txBody>
          <a:bodyPr wrap="square" lIns="27432" rIns="27432" tIns="27432" bIns="27432" anchor="t">
            <a:spAutoFit/>
          </a:bodyPr>
          <a:lstStyle/>
          <a:p>
            <a:pPr algn="l">
              <a:defRPr sz="1300" b="0">
                <a:solidFill>
                  <a:srgbClr val="E7ECF5"/>
                </a:solidFill>
                <a:latin typeface="Aptos"/>
              </a:defRPr>
            </a:pPr>
            <a:r>
              <a:t>Fabric Graph Model supplies visual exploration and standards-based GQL.</a:t>
            </a:r>
          </a:p>
        </p:txBody>
      </p:sp>
      <p:sp>
        <p:nvSpPr>
          <p:cNvPr id="28" name="Rounded Rectangle 27"/>
          <p:cNvSpPr/>
          <p:nvPr/>
        </p:nvSpPr>
        <p:spPr>
          <a:xfrm>
            <a:off x="6217920" y="4416552"/>
            <a:ext cx="5257800" cy="1078992"/>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562856"/>
            <a:ext cx="1554480" cy="228600"/>
          </a:xfrm>
          <a:prstGeom prst="rect">
            <a:avLst/>
          </a:prstGeom>
          <a:noFill/>
        </p:spPr>
        <p:txBody>
          <a:bodyPr wrap="square" lIns="27432" rIns="27432" tIns="27432" bIns="27432" anchor="t">
            <a:spAutoFit/>
          </a:bodyPr>
          <a:lstStyle/>
          <a:p>
            <a:pPr algn="l">
              <a:defRPr sz="1000" b="1">
                <a:solidFill>
                  <a:srgbClr val="1CBEB8"/>
                </a:solidFill>
                <a:latin typeface="Aptos"/>
              </a:defRPr>
            </a:pPr>
            <a:r>
              <a:t>REFRESH PROVEN</a:t>
            </a:r>
          </a:p>
        </p:txBody>
      </p:sp>
      <p:sp>
        <p:nvSpPr>
          <p:cNvPr id="30" name="TextBox 29"/>
          <p:cNvSpPr txBox="1"/>
          <p:nvPr/>
        </p:nvSpPr>
        <p:spPr>
          <a:xfrm>
            <a:off x="7909560" y="4544568"/>
            <a:ext cx="3246120" cy="658368"/>
          </a:xfrm>
          <a:prstGeom prst="rect">
            <a:avLst/>
          </a:prstGeom>
          <a:noFill/>
        </p:spPr>
        <p:txBody>
          <a:bodyPr wrap="square" lIns="27432" rIns="27432" tIns="27432" bIns="27432" anchor="t">
            <a:spAutoFit/>
          </a:bodyPr>
          <a:lstStyle/>
          <a:p>
            <a:pPr algn="l">
              <a:defRPr sz="1300" b="0">
                <a:solidFill>
                  <a:srgbClr val="E7ECF5"/>
                </a:solidFill>
                <a:latin typeface="Aptos"/>
              </a:defRPr>
            </a:pPr>
            <a:r>
              <a:t>A Dataverse update propagated through the link and into the rebuilt graph.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END-TO-END FLOW</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The supported architecture pattern</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04</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411480" y="2057400"/>
            <a:ext cx="1536192" cy="1737360"/>
          </a:xfrm>
          <a:prstGeom prst="roundRect">
            <a:avLst/>
          </a:prstGeom>
          <a:solidFill>
            <a:srgbClr val="1B2741"/>
          </a:solidFill>
          <a:ln w="254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828800"/>
            <a:ext cx="502920" cy="502920"/>
          </a:xfrm>
          <a:prstGeom prst="ellipse">
            <a:avLst/>
          </a:prstGeom>
          <a:solidFill>
            <a:srgbClr val="7456EB"/>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47672"/>
            <a:ext cx="502920" cy="182880"/>
          </a:xfrm>
          <a:prstGeom prst="rect">
            <a:avLst/>
          </a:prstGeom>
          <a:noFill/>
        </p:spPr>
        <p:txBody>
          <a:bodyPr wrap="square" lIns="27432" rIns="27432" tIns="27432" bIns="27432" anchor="t">
            <a:spAutoFit/>
          </a:bodyPr>
          <a:lstStyle/>
          <a:p>
            <a:pPr algn="ctr">
              <a:defRPr sz="1000" b="1">
                <a:solidFill>
                  <a:srgbClr val="F6F8FC"/>
                </a:solidFill>
                <a:latin typeface="Aptos"/>
              </a:defRPr>
            </a:pPr>
            <a:r>
              <a:t>1</a:t>
            </a:r>
          </a:p>
        </p:txBody>
      </p:sp>
      <p:sp>
        <p:nvSpPr>
          <p:cNvPr id="10" name="TextBox 9"/>
          <p:cNvSpPr txBox="1"/>
          <p:nvPr/>
        </p:nvSpPr>
        <p:spPr>
          <a:xfrm>
            <a:off x="548640" y="2487168"/>
            <a:ext cx="1261872" cy="566928"/>
          </a:xfrm>
          <a:prstGeom prst="rect">
            <a:avLst/>
          </a:prstGeom>
          <a:noFill/>
        </p:spPr>
        <p:txBody>
          <a:bodyPr wrap="square" lIns="27432" rIns="27432" tIns="27432" bIns="27432" anchor="t">
            <a:spAutoFit/>
          </a:bodyPr>
          <a:lstStyle/>
          <a:p>
            <a:pPr algn="ctr">
              <a:defRPr sz="1400" b="1">
                <a:solidFill>
                  <a:srgbClr val="F6F8FC"/>
                </a:solidFill>
                <a:latin typeface="Aptos"/>
              </a:defRPr>
            </a:pPr>
            <a:r>
              <a:t>Dynamics 365 /</a:t>
            </a:r>
            <a:br/>
            <a:r>
              <a:t>Dataverse</a:t>
            </a:r>
          </a:p>
        </p:txBody>
      </p:sp>
      <p:sp>
        <p:nvSpPr>
          <p:cNvPr id="11" name="TextBox 10"/>
          <p:cNvSpPr txBox="1"/>
          <p:nvPr/>
        </p:nvSpPr>
        <p:spPr>
          <a:xfrm>
            <a:off x="521208" y="3227832"/>
            <a:ext cx="1316736" cy="256032"/>
          </a:xfrm>
          <a:prstGeom prst="rect">
            <a:avLst/>
          </a:prstGeom>
          <a:noFill/>
        </p:spPr>
        <p:txBody>
          <a:bodyPr wrap="square" lIns="27432" rIns="27432" tIns="27432" bIns="27432" anchor="t">
            <a:spAutoFit/>
          </a:bodyPr>
          <a:lstStyle/>
          <a:p>
            <a:pPr algn="ctr">
              <a:defRPr sz="900" b="0">
                <a:solidFill>
                  <a:srgbClr val="AAB6CC"/>
                </a:solidFill>
                <a:latin typeface="Aptos"/>
              </a:defRPr>
            </a:pPr>
            <a:r>
              <a:t>Tables + lookups</a:t>
            </a:r>
          </a:p>
        </p:txBody>
      </p:sp>
      <p:cxnSp>
        <p:nvCxnSpPr>
          <p:cNvPr id="12" name="Connector 11"/>
          <p:cNvCxnSpPr/>
          <p:nvPr/>
        </p:nvCxnSpPr>
        <p:spPr>
          <a:xfrm>
            <a:off x="1947672" y="2926080"/>
            <a:ext cx="338328" cy="0"/>
          </a:xfrm>
          <a:prstGeom prst="line">
            <a:avLst/>
          </a:prstGeom>
          <a:ln w="25400">
            <a:solidFill>
              <a:srgbClr val="AAB6CC"/>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331720" y="2057400"/>
            <a:ext cx="1536192" cy="1737360"/>
          </a:xfrm>
          <a:prstGeom prst="roundRect">
            <a:avLst/>
          </a:prstGeom>
          <a:solidFill>
            <a:srgbClr val="1B2741"/>
          </a:solidFill>
          <a:ln w="25400">
            <a:solidFill>
              <a:srgbClr val="358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834640" y="1828800"/>
            <a:ext cx="502920" cy="502920"/>
          </a:xfrm>
          <a:prstGeom prst="ellipse">
            <a:avLst/>
          </a:prstGeom>
          <a:solidFill>
            <a:srgbClr val="3584E4"/>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1947672"/>
            <a:ext cx="502920" cy="182880"/>
          </a:xfrm>
          <a:prstGeom prst="rect">
            <a:avLst/>
          </a:prstGeom>
          <a:noFill/>
        </p:spPr>
        <p:txBody>
          <a:bodyPr wrap="square" lIns="27432" rIns="27432" tIns="27432" bIns="27432" anchor="t">
            <a:spAutoFit/>
          </a:bodyPr>
          <a:lstStyle/>
          <a:p>
            <a:pPr algn="ctr">
              <a:defRPr sz="1000" b="1">
                <a:solidFill>
                  <a:srgbClr val="F6F8FC"/>
                </a:solidFill>
                <a:latin typeface="Aptos"/>
              </a:defRPr>
            </a:pPr>
            <a:r>
              <a:t>2</a:t>
            </a:r>
          </a:p>
        </p:txBody>
      </p:sp>
      <p:sp>
        <p:nvSpPr>
          <p:cNvPr id="16" name="TextBox 15"/>
          <p:cNvSpPr txBox="1"/>
          <p:nvPr/>
        </p:nvSpPr>
        <p:spPr>
          <a:xfrm>
            <a:off x="2468880" y="2487168"/>
            <a:ext cx="1261872" cy="566928"/>
          </a:xfrm>
          <a:prstGeom prst="rect">
            <a:avLst/>
          </a:prstGeom>
          <a:noFill/>
        </p:spPr>
        <p:txBody>
          <a:bodyPr wrap="square" lIns="27432" rIns="27432" tIns="27432" bIns="27432" anchor="t">
            <a:spAutoFit/>
          </a:bodyPr>
          <a:lstStyle/>
          <a:p>
            <a:pPr algn="ctr">
              <a:defRPr sz="1400" b="1">
                <a:solidFill>
                  <a:srgbClr val="F6F8FC"/>
                </a:solidFill>
                <a:latin typeface="Aptos"/>
              </a:defRPr>
            </a:pPr>
            <a:r>
              <a:t>Link to Fabric</a:t>
            </a:r>
          </a:p>
        </p:txBody>
      </p:sp>
      <p:sp>
        <p:nvSpPr>
          <p:cNvPr id="17" name="TextBox 16"/>
          <p:cNvSpPr txBox="1"/>
          <p:nvPr/>
        </p:nvSpPr>
        <p:spPr>
          <a:xfrm>
            <a:off x="2441448" y="3227832"/>
            <a:ext cx="1316736" cy="256032"/>
          </a:xfrm>
          <a:prstGeom prst="rect">
            <a:avLst/>
          </a:prstGeom>
          <a:noFill/>
        </p:spPr>
        <p:txBody>
          <a:bodyPr wrap="square" lIns="27432" rIns="27432" tIns="27432" bIns="27432" anchor="t">
            <a:spAutoFit/>
          </a:bodyPr>
          <a:lstStyle/>
          <a:p>
            <a:pPr algn="ctr">
              <a:defRPr sz="900" b="0">
                <a:solidFill>
                  <a:srgbClr val="AAB6CC"/>
                </a:solidFill>
                <a:latin typeface="Aptos"/>
              </a:defRPr>
            </a:pPr>
            <a:r>
              <a:t>Managed sync</a:t>
            </a:r>
          </a:p>
        </p:txBody>
      </p:sp>
      <p:cxnSp>
        <p:nvCxnSpPr>
          <p:cNvPr id="18" name="Connector 17"/>
          <p:cNvCxnSpPr/>
          <p:nvPr/>
        </p:nvCxnSpPr>
        <p:spPr>
          <a:xfrm>
            <a:off x="3867912" y="2926080"/>
            <a:ext cx="338328" cy="0"/>
          </a:xfrm>
          <a:prstGeom prst="line">
            <a:avLst/>
          </a:prstGeom>
          <a:ln w="25400">
            <a:solidFill>
              <a:srgbClr val="AAB6CC"/>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251960" y="2057400"/>
            <a:ext cx="1536192" cy="1737360"/>
          </a:xfrm>
          <a:prstGeom prst="roundRect">
            <a:avLst/>
          </a:prstGeom>
          <a:solidFill>
            <a:srgbClr val="1B2741"/>
          </a:solidFill>
          <a:ln w="254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754880" y="1828800"/>
            <a:ext cx="502920" cy="502920"/>
          </a:xfrm>
          <a:prstGeom prst="ellipse">
            <a:avLst/>
          </a:prstGeom>
          <a:solidFill>
            <a:srgbClr val="1CBEB8"/>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1947672"/>
            <a:ext cx="502920" cy="182880"/>
          </a:xfrm>
          <a:prstGeom prst="rect">
            <a:avLst/>
          </a:prstGeom>
          <a:noFill/>
        </p:spPr>
        <p:txBody>
          <a:bodyPr wrap="square" lIns="27432" rIns="27432" tIns="27432" bIns="27432" anchor="t">
            <a:spAutoFit/>
          </a:bodyPr>
          <a:lstStyle/>
          <a:p>
            <a:pPr algn="ctr">
              <a:defRPr sz="1000" b="1">
                <a:solidFill>
                  <a:srgbClr val="F6F8FC"/>
                </a:solidFill>
                <a:latin typeface="Aptos"/>
              </a:defRPr>
            </a:pPr>
            <a:r>
              <a:t>3</a:t>
            </a:r>
          </a:p>
        </p:txBody>
      </p:sp>
      <p:sp>
        <p:nvSpPr>
          <p:cNvPr id="22" name="TextBox 21"/>
          <p:cNvSpPr txBox="1"/>
          <p:nvPr/>
        </p:nvSpPr>
        <p:spPr>
          <a:xfrm>
            <a:off x="4389120" y="2487168"/>
            <a:ext cx="1261872" cy="566928"/>
          </a:xfrm>
          <a:prstGeom prst="rect">
            <a:avLst/>
          </a:prstGeom>
          <a:noFill/>
        </p:spPr>
        <p:txBody>
          <a:bodyPr wrap="square" lIns="27432" rIns="27432" tIns="27432" bIns="27432" anchor="t">
            <a:spAutoFit/>
          </a:bodyPr>
          <a:lstStyle/>
          <a:p>
            <a:pPr algn="ctr">
              <a:defRPr sz="1400" b="1">
                <a:solidFill>
                  <a:srgbClr val="F6F8FC"/>
                </a:solidFill>
                <a:latin typeface="Aptos"/>
              </a:defRPr>
            </a:pPr>
            <a:r>
              <a:t>Landing</a:t>
            </a:r>
            <a:br/>
            <a:r>
              <a:t>Lakehouse</a:t>
            </a:r>
          </a:p>
        </p:txBody>
      </p:sp>
      <p:sp>
        <p:nvSpPr>
          <p:cNvPr id="23" name="TextBox 22"/>
          <p:cNvSpPr txBox="1"/>
          <p:nvPr/>
        </p:nvSpPr>
        <p:spPr>
          <a:xfrm>
            <a:off x="4361688" y="3227832"/>
            <a:ext cx="1316736" cy="256032"/>
          </a:xfrm>
          <a:prstGeom prst="rect">
            <a:avLst/>
          </a:prstGeom>
          <a:noFill/>
        </p:spPr>
        <p:txBody>
          <a:bodyPr wrap="square" lIns="27432" rIns="27432" tIns="27432" bIns="27432" anchor="t">
            <a:spAutoFit/>
          </a:bodyPr>
          <a:lstStyle/>
          <a:p>
            <a:pPr algn="ctr">
              <a:defRPr sz="900" b="0">
                <a:solidFill>
                  <a:srgbClr val="AAB6CC"/>
                </a:solidFill>
                <a:latin typeface="Aptos"/>
              </a:defRPr>
            </a:pPr>
            <a:r>
              <a:t>Read-only Delta</a:t>
            </a:r>
          </a:p>
        </p:txBody>
      </p:sp>
      <p:cxnSp>
        <p:nvCxnSpPr>
          <p:cNvPr id="24" name="Connector 23"/>
          <p:cNvCxnSpPr/>
          <p:nvPr/>
        </p:nvCxnSpPr>
        <p:spPr>
          <a:xfrm>
            <a:off x="5788152" y="2926080"/>
            <a:ext cx="338328" cy="0"/>
          </a:xfrm>
          <a:prstGeom prst="line">
            <a:avLst/>
          </a:prstGeom>
          <a:ln w="25400">
            <a:solidFill>
              <a:srgbClr val="AAB6CC"/>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72200" y="2057400"/>
            <a:ext cx="1536192" cy="1737360"/>
          </a:xfrm>
          <a:prstGeom prst="roundRect">
            <a:avLst/>
          </a:prstGeom>
          <a:solidFill>
            <a:srgbClr val="1B2741"/>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0" y="1828800"/>
            <a:ext cx="502920" cy="502920"/>
          </a:xfrm>
          <a:prstGeom prst="ellipse">
            <a:avLst/>
          </a:prstGeom>
          <a:solidFill>
            <a:srgbClr val="F59E0B"/>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1947672"/>
            <a:ext cx="502920" cy="182880"/>
          </a:xfrm>
          <a:prstGeom prst="rect">
            <a:avLst/>
          </a:prstGeom>
          <a:noFill/>
        </p:spPr>
        <p:txBody>
          <a:bodyPr wrap="square" lIns="27432" rIns="27432" tIns="27432" bIns="27432" anchor="t">
            <a:spAutoFit/>
          </a:bodyPr>
          <a:lstStyle/>
          <a:p>
            <a:pPr algn="ctr">
              <a:defRPr sz="1000" b="1">
                <a:solidFill>
                  <a:srgbClr val="F6F8FC"/>
                </a:solidFill>
                <a:latin typeface="Aptos"/>
              </a:defRPr>
            </a:pPr>
            <a:r>
              <a:t>4</a:t>
            </a:r>
          </a:p>
        </p:txBody>
      </p:sp>
      <p:sp>
        <p:nvSpPr>
          <p:cNvPr id="28" name="TextBox 27"/>
          <p:cNvSpPr txBox="1"/>
          <p:nvPr/>
        </p:nvSpPr>
        <p:spPr>
          <a:xfrm>
            <a:off x="6309360" y="2487168"/>
            <a:ext cx="1261872" cy="566928"/>
          </a:xfrm>
          <a:prstGeom prst="rect">
            <a:avLst/>
          </a:prstGeom>
          <a:noFill/>
        </p:spPr>
        <p:txBody>
          <a:bodyPr wrap="square" lIns="27432" rIns="27432" tIns="27432" bIns="27432" anchor="t">
            <a:spAutoFit/>
          </a:bodyPr>
          <a:lstStyle/>
          <a:p>
            <a:pPr algn="ctr">
              <a:defRPr sz="1400" b="1">
                <a:solidFill>
                  <a:srgbClr val="F6F8FC"/>
                </a:solidFill>
                <a:latin typeface="Aptos"/>
              </a:defRPr>
            </a:pPr>
            <a:r>
              <a:t>Spark graph</a:t>
            </a:r>
            <a:br/>
            <a:r>
              <a:t>builder</a:t>
            </a:r>
          </a:p>
        </p:txBody>
      </p:sp>
      <p:sp>
        <p:nvSpPr>
          <p:cNvPr id="29" name="TextBox 28"/>
          <p:cNvSpPr txBox="1"/>
          <p:nvPr/>
        </p:nvSpPr>
        <p:spPr>
          <a:xfrm>
            <a:off x="6281928" y="3227832"/>
            <a:ext cx="1316736" cy="256032"/>
          </a:xfrm>
          <a:prstGeom prst="rect">
            <a:avLst/>
          </a:prstGeom>
          <a:noFill/>
        </p:spPr>
        <p:txBody>
          <a:bodyPr wrap="square" lIns="27432" rIns="27432" tIns="27432" bIns="27432" anchor="t">
            <a:spAutoFit/>
          </a:bodyPr>
          <a:lstStyle/>
          <a:p>
            <a:pPr algn="ctr">
              <a:defRPr sz="900" b="0">
                <a:solidFill>
                  <a:srgbClr val="AAB6CC"/>
                </a:solidFill>
                <a:latin typeface="Aptos"/>
              </a:defRPr>
            </a:pPr>
            <a:r>
              <a:t>Map + validate</a:t>
            </a:r>
          </a:p>
        </p:txBody>
      </p:sp>
      <p:cxnSp>
        <p:nvCxnSpPr>
          <p:cNvPr id="30" name="Connector 29"/>
          <p:cNvCxnSpPr/>
          <p:nvPr/>
        </p:nvCxnSpPr>
        <p:spPr>
          <a:xfrm>
            <a:off x="7708392" y="2926080"/>
            <a:ext cx="338327" cy="0"/>
          </a:xfrm>
          <a:prstGeom prst="line">
            <a:avLst/>
          </a:prstGeom>
          <a:ln w="25400">
            <a:solidFill>
              <a:srgbClr val="AAB6CC"/>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092440" y="2057400"/>
            <a:ext cx="1536192" cy="1737360"/>
          </a:xfrm>
          <a:prstGeom prst="roundRect">
            <a:avLst/>
          </a:prstGeom>
          <a:solidFill>
            <a:srgbClr val="1B2741"/>
          </a:solidFill>
          <a:ln w="25400">
            <a:solidFill>
              <a:srgbClr val="2EA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595360" y="1828800"/>
            <a:ext cx="502920" cy="502920"/>
          </a:xfrm>
          <a:prstGeom prst="ellipse">
            <a:avLst/>
          </a:prstGeom>
          <a:solidFill>
            <a:srgbClr val="2EA44F"/>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0" y="1947672"/>
            <a:ext cx="502920" cy="182880"/>
          </a:xfrm>
          <a:prstGeom prst="rect">
            <a:avLst/>
          </a:prstGeom>
          <a:noFill/>
        </p:spPr>
        <p:txBody>
          <a:bodyPr wrap="square" lIns="27432" rIns="27432" tIns="27432" bIns="27432" anchor="t">
            <a:spAutoFit/>
          </a:bodyPr>
          <a:lstStyle/>
          <a:p>
            <a:pPr algn="ctr">
              <a:defRPr sz="1000" b="1">
                <a:solidFill>
                  <a:srgbClr val="F6F8FC"/>
                </a:solidFill>
                <a:latin typeface="Aptos"/>
              </a:defRPr>
            </a:pPr>
            <a:r>
              <a:t>5</a:t>
            </a:r>
          </a:p>
        </p:txBody>
      </p:sp>
      <p:sp>
        <p:nvSpPr>
          <p:cNvPr id="34" name="TextBox 33"/>
          <p:cNvSpPr txBox="1"/>
          <p:nvPr/>
        </p:nvSpPr>
        <p:spPr>
          <a:xfrm>
            <a:off x="8229600" y="2487168"/>
            <a:ext cx="1261872" cy="566928"/>
          </a:xfrm>
          <a:prstGeom prst="rect">
            <a:avLst/>
          </a:prstGeom>
          <a:noFill/>
        </p:spPr>
        <p:txBody>
          <a:bodyPr wrap="square" lIns="27432" rIns="27432" tIns="27432" bIns="27432" anchor="t">
            <a:spAutoFit/>
          </a:bodyPr>
          <a:lstStyle/>
          <a:p>
            <a:pPr algn="ctr">
              <a:defRPr sz="1400" b="1">
                <a:solidFill>
                  <a:srgbClr val="F6F8FC"/>
                </a:solidFill>
                <a:latin typeface="Aptos"/>
              </a:defRPr>
            </a:pPr>
            <a:r>
              <a:t>Curated</a:t>
            </a:r>
            <a:br/>
            <a:r>
              <a:t>Lakehouse</a:t>
            </a:r>
          </a:p>
        </p:txBody>
      </p:sp>
      <p:sp>
        <p:nvSpPr>
          <p:cNvPr id="35" name="TextBox 34"/>
          <p:cNvSpPr txBox="1"/>
          <p:nvPr/>
        </p:nvSpPr>
        <p:spPr>
          <a:xfrm>
            <a:off x="8202167" y="3227832"/>
            <a:ext cx="1316736" cy="256032"/>
          </a:xfrm>
          <a:prstGeom prst="rect">
            <a:avLst/>
          </a:prstGeom>
          <a:noFill/>
        </p:spPr>
        <p:txBody>
          <a:bodyPr wrap="square" lIns="27432" rIns="27432" tIns="27432" bIns="27432" anchor="t">
            <a:spAutoFit/>
          </a:bodyPr>
          <a:lstStyle/>
          <a:p>
            <a:pPr algn="ctr">
              <a:defRPr sz="900" b="0">
                <a:solidFill>
                  <a:srgbClr val="AAB6CC"/>
                </a:solidFill>
                <a:latin typeface="Aptos"/>
              </a:defRPr>
            </a:pPr>
            <a:r>
              <a:t>Nodes + edges</a:t>
            </a:r>
          </a:p>
        </p:txBody>
      </p:sp>
      <p:cxnSp>
        <p:nvCxnSpPr>
          <p:cNvPr id="36" name="Connector 35"/>
          <p:cNvCxnSpPr/>
          <p:nvPr/>
        </p:nvCxnSpPr>
        <p:spPr>
          <a:xfrm>
            <a:off x="9628632" y="2926080"/>
            <a:ext cx="338327" cy="0"/>
          </a:xfrm>
          <a:prstGeom prst="line">
            <a:avLst/>
          </a:prstGeom>
          <a:ln w="25400">
            <a:solidFill>
              <a:srgbClr val="AAB6CC"/>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012680" y="2057400"/>
            <a:ext cx="1536192" cy="1737360"/>
          </a:xfrm>
          <a:prstGeom prst="roundRect">
            <a:avLst/>
          </a:prstGeom>
          <a:solidFill>
            <a:srgbClr val="1B2741"/>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515600" y="1828800"/>
            <a:ext cx="502920" cy="502920"/>
          </a:xfrm>
          <a:prstGeom prst="ellipse">
            <a:avLst/>
          </a:prstGeom>
          <a:solidFill>
            <a:srgbClr val="A78BFA"/>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0" y="1947672"/>
            <a:ext cx="502920" cy="182880"/>
          </a:xfrm>
          <a:prstGeom prst="rect">
            <a:avLst/>
          </a:prstGeom>
          <a:noFill/>
        </p:spPr>
        <p:txBody>
          <a:bodyPr wrap="square" lIns="27432" rIns="27432" tIns="27432" bIns="27432" anchor="t">
            <a:spAutoFit/>
          </a:bodyPr>
          <a:lstStyle/>
          <a:p>
            <a:pPr algn="ctr">
              <a:defRPr sz="1000" b="1">
                <a:solidFill>
                  <a:srgbClr val="F6F8FC"/>
                </a:solidFill>
                <a:latin typeface="Aptos"/>
              </a:defRPr>
            </a:pPr>
            <a:r>
              <a:t>6</a:t>
            </a:r>
          </a:p>
        </p:txBody>
      </p:sp>
      <p:sp>
        <p:nvSpPr>
          <p:cNvPr id="40" name="TextBox 39"/>
          <p:cNvSpPr txBox="1"/>
          <p:nvPr/>
        </p:nvSpPr>
        <p:spPr>
          <a:xfrm>
            <a:off x="10149840" y="2487168"/>
            <a:ext cx="1261872" cy="566928"/>
          </a:xfrm>
          <a:prstGeom prst="rect">
            <a:avLst/>
          </a:prstGeom>
          <a:noFill/>
        </p:spPr>
        <p:txBody>
          <a:bodyPr wrap="square" lIns="27432" rIns="27432" tIns="27432" bIns="27432" anchor="t">
            <a:spAutoFit/>
          </a:bodyPr>
          <a:lstStyle/>
          <a:p>
            <a:pPr algn="ctr">
              <a:defRPr sz="1400" b="1">
                <a:solidFill>
                  <a:srgbClr val="F6F8FC"/>
                </a:solidFill>
                <a:latin typeface="Aptos"/>
              </a:defRPr>
            </a:pPr>
            <a:r>
              <a:t>Fabric Graph</a:t>
            </a:r>
            <a:br/>
            <a:r>
              <a:t>Model</a:t>
            </a:r>
          </a:p>
        </p:txBody>
      </p:sp>
      <p:sp>
        <p:nvSpPr>
          <p:cNvPr id="41" name="TextBox 40"/>
          <p:cNvSpPr txBox="1"/>
          <p:nvPr/>
        </p:nvSpPr>
        <p:spPr>
          <a:xfrm>
            <a:off x="10122407" y="3227832"/>
            <a:ext cx="1316736" cy="256032"/>
          </a:xfrm>
          <a:prstGeom prst="rect">
            <a:avLst/>
          </a:prstGeom>
          <a:noFill/>
        </p:spPr>
        <p:txBody>
          <a:bodyPr wrap="square" lIns="27432" rIns="27432" tIns="27432" bIns="27432" anchor="t">
            <a:spAutoFit/>
          </a:bodyPr>
          <a:lstStyle/>
          <a:p>
            <a:pPr algn="ctr">
              <a:defRPr sz="900" b="0">
                <a:solidFill>
                  <a:srgbClr val="AAB6CC"/>
                </a:solidFill>
                <a:latin typeface="Aptos"/>
              </a:defRPr>
            </a:pPr>
            <a:r>
              <a:t>Visual + GQL</a:t>
            </a:r>
          </a:p>
        </p:txBody>
      </p:sp>
      <p:sp>
        <p:nvSpPr>
          <p:cNvPr id="42" name="TextBox 41"/>
          <p:cNvSpPr txBox="1"/>
          <p:nvPr/>
        </p:nvSpPr>
        <p:spPr>
          <a:xfrm>
            <a:off x="594360" y="4389120"/>
            <a:ext cx="2560320" cy="274320"/>
          </a:xfrm>
          <a:prstGeom prst="rect">
            <a:avLst/>
          </a:prstGeom>
          <a:noFill/>
        </p:spPr>
        <p:txBody>
          <a:bodyPr wrap="square" lIns="27432" rIns="27432" tIns="27432" bIns="27432" anchor="t">
            <a:spAutoFit/>
          </a:bodyPr>
          <a:lstStyle/>
          <a:p>
            <a:pPr algn="l">
              <a:defRPr sz="1200" b="1">
                <a:solidFill>
                  <a:srgbClr val="A78BFA"/>
                </a:solidFill>
                <a:latin typeface="Aptos"/>
              </a:defRPr>
            </a:pPr>
            <a:r>
              <a:t>Operational authority</a:t>
            </a:r>
          </a:p>
        </p:txBody>
      </p:sp>
      <p:cxnSp>
        <p:nvCxnSpPr>
          <p:cNvPr id="43" name="Connector 42"/>
          <p:cNvCxnSpPr/>
          <p:nvPr/>
        </p:nvCxnSpPr>
        <p:spPr>
          <a:xfrm>
            <a:off x="594360" y="4754880"/>
            <a:ext cx="1737360" cy="0"/>
          </a:xfrm>
          <a:prstGeom prst="line">
            <a:avLst/>
          </a:prstGeom>
          <a:ln w="50800">
            <a:solidFill>
              <a:srgbClr val="7456EB"/>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017520" y="4389120"/>
            <a:ext cx="3017520" cy="274320"/>
          </a:xfrm>
          <a:prstGeom prst="rect">
            <a:avLst/>
          </a:prstGeom>
          <a:noFill/>
        </p:spPr>
        <p:txBody>
          <a:bodyPr wrap="square" lIns="27432" rIns="27432" tIns="27432" bIns="27432" anchor="t">
            <a:spAutoFit/>
          </a:bodyPr>
          <a:lstStyle/>
          <a:p>
            <a:pPr algn="l">
              <a:defRPr sz="1200" b="1">
                <a:solidFill>
                  <a:srgbClr val="1CBEB8"/>
                </a:solidFill>
                <a:latin typeface="Aptos"/>
              </a:defRPr>
            </a:pPr>
            <a:r>
              <a:t>Managed analytical landing</a:t>
            </a:r>
          </a:p>
        </p:txBody>
      </p:sp>
      <p:cxnSp>
        <p:nvCxnSpPr>
          <p:cNvPr id="45" name="Connector 44"/>
          <p:cNvCxnSpPr/>
          <p:nvPr/>
        </p:nvCxnSpPr>
        <p:spPr>
          <a:xfrm>
            <a:off x="3017520" y="4754880"/>
            <a:ext cx="2971800" cy="0"/>
          </a:xfrm>
          <a:prstGeom prst="line">
            <a:avLst/>
          </a:prstGeom>
          <a:ln w="50800">
            <a:solidFill>
              <a:srgbClr val="1CBEB8"/>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583680" y="4389120"/>
            <a:ext cx="3931920" cy="274320"/>
          </a:xfrm>
          <a:prstGeom prst="rect">
            <a:avLst/>
          </a:prstGeom>
          <a:noFill/>
        </p:spPr>
        <p:txBody>
          <a:bodyPr wrap="square" lIns="27432" rIns="27432" tIns="27432" bIns="27432" anchor="t">
            <a:spAutoFit/>
          </a:bodyPr>
          <a:lstStyle/>
          <a:p>
            <a:pPr algn="l">
              <a:defRPr sz="1200" b="1">
                <a:solidFill>
                  <a:srgbClr val="2EA44F"/>
                </a:solidFill>
                <a:latin typeface="Aptos"/>
              </a:defRPr>
            </a:pPr>
            <a:r>
              <a:t>Solution-owned analytical layer</a:t>
            </a:r>
          </a:p>
        </p:txBody>
      </p:sp>
      <p:cxnSp>
        <p:nvCxnSpPr>
          <p:cNvPr id="47" name="Connector 46"/>
          <p:cNvCxnSpPr/>
          <p:nvPr/>
        </p:nvCxnSpPr>
        <p:spPr>
          <a:xfrm>
            <a:off x="6583680" y="4754880"/>
            <a:ext cx="4709160" cy="0"/>
          </a:xfrm>
          <a:prstGeom prst="line">
            <a:avLst/>
          </a:prstGeom>
          <a:ln w="50800">
            <a:solidFill>
              <a:srgbClr val="2EA44F"/>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1920240" y="5257800"/>
            <a:ext cx="8366760" cy="594360"/>
          </a:xfrm>
          <a:prstGeom prst="roundRect">
            <a:avLst/>
          </a:prstGeom>
          <a:solidFill>
            <a:srgbClr val="141F36"/>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148840" y="5431536"/>
            <a:ext cx="7909560" cy="228600"/>
          </a:xfrm>
          <a:prstGeom prst="rect">
            <a:avLst/>
          </a:prstGeom>
          <a:noFill/>
        </p:spPr>
        <p:txBody>
          <a:bodyPr wrap="square" lIns="27432" rIns="27432" tIns="27432" bIns="27432" anchor="t">
            <a:spAutoFit/>
          </a:bodyPr>
          <a:lstStyle/>
          <a:p>
            <a:pPr algn="ctr">
              <a:defRPr sz="1200" b="1">
                <a:solidFill>
                  <a:srgbClr val="E7ECF5"/>
                </a:solidFill>
                <a:latin typeface="Aptos"/>
              </a:defRPr>
            </a:pPr>
            <a:r>
              <a:t>No direct writes back to Dataverse • No custom extraction service • Stable OneLake item IDs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SOURCE SYSTEM</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A relationship-rich Dynamics 365 source model</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05</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cxnSp>
        <p:nvCxnSpPr>
          <p:cNvPr id="7" name="Connector 6"/>
          <p:cNvCxnSpPr/>
          <p:nvPr/>
        </p:nvCxnSpPr>
        <p:spPr>
          <a:xfrm>
            <a:off x="1508760" y="2112264"/>
            <a:ext cx="2057400" cy="0"/>
          </a:xfrm>
          <a:prstGeom prst="line">
            <a:avLst/>
          </a:prstGeom>
          <a:ln w="25400">
            <a:solidFill>
              <a:srgbClr val="3A486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171700" y="1856231"/>
            <a:ext cx="1005840" cy="182880"/>
          </a:xfrm>
          <a:prstGeom prst="rect">
            <a:avLst/>
          </a:prstGeom>
          <a:noFill/>
        </p:spPr>
        <p:txBody>
          <a:bodyPr wrap="square" lIns="27432" rIns="27432" tIns="27432" bIns="27432" anchor="t">
            <a:spAutoFit/>
          </a:bodyPr>
          <a:lstStyle/>
          <a:p>
            <a:pPr algn="ctr">
              <a:defRPr sz="800" b="1">
                <a:solidFill>
                  <a:srgbClr val="AAB6CC"/>
                </a:solidFill>
                <a:latin typeface="Aptos"/>
              </a:defRPr>
            </a:pPr>
            <a:r>
              <a:t>belongs to</a:t>
            </a:r>
          </a:p>
        </p:txBody>
      </p:sp>
      <p:cxnSp>
        <p:nvCxnSpPr>
          <p:cNvPr id="9" name="Connector 8"/>
          <p:cNvCxnSpPr/>
          <p:nvPr/>
        </p:nvCxnSpPr>
        <p:spPr>
          <a:xfrm>
            <a:off x="3566160" y="2112264"/>
            <a:ext cx="2057399" cy="0"/>
          </a:xfrm>
          <a:prstGeom prst="line">
            <a:avLst/>
          </a:prstGeom>
          <a:ln w="25400">
            <a:solidFill>
              <a:srgbClr val="3A486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229100" y="1856231"/>
            <a:ext cx="1005840" cy="182880"/>
          </a:xfrm>
          <a:prstGeom prst="rect">
            <a:avLst/>
          </a:prstGeom>
          <a:noFill/>
        </p:spPr>
        <p:txBody>
          <a:bodyPr wrap="square" lIns="27432" rIns="27432" tIns="27432" bIns="27432" anchor="t">
            <a:spAutoFit/>
          </a:bodyPr>
          <a:lstStyle/>
          <a:p>
            <a:pPr algn="ctr">
              <a:defRPr sz="800" b="1">
                <a:solidFill>
                  <a:srgbClr val="AAB6CC"/>
                </a:solidFill>
                <a:latin typeface="Aptos"/>
              </a:defRPr>
            </a:pPr>
            <a:r>
              <a:t>places</a:t>
            </a:r>
          </a:p>
        </p:txBody>
      </p:sp>
      <p:cxnSp>
        <p:nvCxnSpPr>
          <p:cNvPr id="11" name="Connector 10"/>
          <p:cNvCxnSpPr/>
          <p:nvPr/>
        </p:nvCxnSpPr>
        <p:spPr>
          <a:xfrm>
            <a:off x="5623559" y="2112264"/>
            <a:ext cx="2057401" cy="0"/>
          </a:xfrm>
          <a:prstGeom prst="line">
            <a:avLst/>
          </a:prstGeom>
          <a:ln w="25400">
            <a:solidFill>
              <a:srgbClr val="3A486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86500" y="1856231"/>
            <a:ext cx="1005840" cy="182880"/>
          </a:xfrm>
          <a:prstGeom prst="rect">
            <a:avLst/>
          </a:prstGeom>
          <a:noFill/>
        </p:spPr>
        <p:txBody>
          <a:bodyPr wrap="square" lIns="27432" rIns="27432" tIns="27432" bIns="27432" anchor="t">
            <a:spAutoFit/>
          </a:bodyPr>
          <a:lstStyle/>
          <a:p>
            <a:pPr algn="ctr">
              <a:defRPr sz="800" b="1">
                <a:solidFill>
                  <a:srgbClr val="AAB6CC"/>
                </a:solidFill>
                <a:latin typeface="Aptos"/>
              </a:defRPr>
            </a:pPr>
            <a:r>
              <a:t>contains</a:t>
            </a:r>
          </a:p>
        </p:txBody>
      </p:sp>
      <p:cxnSp>
        <p:nvCxnSpPr>
          <p:cNvPr id="13" name="Connector 12"/>
          <p:cNvCxnSpPr/>
          <p:nvPr/>
        </p:nvCxnSpPr>
        <p:spPr>
          <a:xfrm>
            <a:off x="7680960" y="2112264"/>
            <a:ext cx="2331720" cy="0"/>
          </a:xfrm>
          <a:prstGeom prst="line">
            <a:avLst/>
          </a:prstGeom>
          <a:ln w="25400">
            <a:solidFill>
              <a:srgbClr val="3A486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481060" y="1856231"/>
            <a:ext cx="1005840" cy="182880"/>
          </a:xfrm>
          <a:prstGeom prst="rect">
            <a:avLst/>
          </a:prstGeom>
          <a:noFill/>
        </p:spPr>
        <p:txBody>
          <a:bodyPr wrap="square" lIns="27432" rIns="27432" tIns="27432" bIns="27432" anchor="t">
            <a:spAutoFit/>
          </a:bodyPr>
          <a:lstStyle/>
          <a:p>
            <a:pPr algn="ctr">
              <a:defRPr sz="800" b="1">
                <a:solidFill>
                  <a:srgbClr val="AAB6CC"/>
                </a:solidFill>
                <a:latin typeface="Aptos"/>
              </a:defRPr>
            </a:pPr>
            <a:r>
              <a:t>references</a:t>
            </a:r>
          </a:p>
        </p:txBody>
      </p:sp>
      <p:cxnSp>
        <p:nvCxnSpPr>
          <p:cNvPr id="15" name="Connector 14"/>
          <p:cNvCxnSpPr/>
          <p:nvPr/>
        </p:nvCxnSpPr>
        <p:spPr>
          <a:xfrm>
            <a:off x="5623559" y="2112264"/>
            <a:ext cx="0" cy="2240280"/>
          </a:xfrm>
          <a:prstGeom prst="line">
            <a:avLst/>
          </a:prstGeom>
          <a:ln w="25400">
            <a:solidFill>
              <a:srgbClr val="3A486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57800" y="2976372"/>
            <a:ext cx="1005840" cy="182880"/>
          </a:xfrm>
          <a:prstGeom prst="rect">
            <a:avLst/>
          </a:prstGeom>
          <a:noFill/>
        </p:spPr>
        <p:txBody>
          <a:bodyPr wrap="square" lIns="27432" rIns="27432" tIns="27432" bIns="27432" anchor="t">
            <a:spAutoFit/>
          </a:bodyPr>
          <a:lstStyle/>
          <a:p>
            <a:pPr algn="ctr">
              <a:defRPr sz="800" b="1">
                <a:solidFill>
                  <a:srgbClr val="AAB6CC"/>
                </a:solidFill>
                <a:latin typeface="Aptos"/>
              </a:defRPr>
            </a:pPr>
            <a:r>
              <a:t>generates</a:t>
            </a:r>
          </a:p>
        </p:txBody>
      </p:sp>
      <p:cxnSp>
        <p:nvCxnSpPr>
          <p:cNvPr id="17" name="Connector 16"/>
          <p:cNvCxnSpPr/>
          <p:nvPr/>
        </p:nvCxnSpPr>
        <p:spPr>
          <a:xfrm>
            <a:off x="1508760" y="2112264"/>
            <a:ext cx="1051560" cy="2240280"/>
          </a:xfrm>
          <a:prstGeom prst="line">
            <a:avLst/>
          </a:prstGeom>
          <a:ln w="25400">
            <a:solidFill>
              <a:srgbClr val="3A486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668780" y="2976372"/>
            <a:ext cx="1005840" cy="182880"/>
          </a:xfrm>
          <a:prstGeom prst="rect">
            <a:avLst/>
          </a:prstGeom>
          <a:noFill/>
        </p:spPr>
        <p:txBody>
          <a:bodyPr wrap="square" lIns="27432" rIns="27432" tIns="27432" bIns="27432" anchor="t">
            <a:spAutoFit/>
          </a:bodyPr>
          <a:lstStyle/>
          <a:p>
            <a:pPr algn="ctr">
              <a:defRPr sz="800" b="1">
                <a:solidFill>
                  <a:srgbClr val="AAB6CC"/>
                </a:solidFill>
                <a:latin typeface="Aptos"/>
              </a:defRPr>
            </a:pPr>
            <a:r>
              <a:t>reports</a:t>
            </a:r>
          </a:p>
        </p:txBody>
      </p:sp>
      <p:cxnSp>
        <p:nvCxnSpPr>
          <p:cNvPr id="19" name="Connector 18"/>
          <p:cNvCxnSpPr/>
          <p:nvPr/>
        </p:nvCxnSpPr>
        <p:spPr>
          <a:xfrm flipH="1">
            <a:off x="2560320" y="2112264"/>
            <a:ext cx="1005840" cy="2240280"/>
          </a:xfrm>
          <a:prstGeom prst="line">
            <a:avLst/>
          </a:prstGeom>
          <a:ln w="25400">
            <a:solidFill>
              <a:srgbClr val="3A486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697479" y="2976372"/>
            <a:ext cx="1005840" cy="182880"/>
          </a:xfrm>
          <a:prstGeom prst="rect">
            <a:avLst/>
          </a:prstGeom>
          <a:noFill/>
        </p:spPr>
        <p:txBody>
          <a:bodyPr wrap="square" lIns="27432" rIns="27432" tIns="27432" bIns="27432" anchor="t">
            <a:spAutoFit/>
          </a:bodyPr>
          <a:lstStyle/>
          <a:p>
            <a:pPr algn="ctr">
              <a:defRPr sz="800" b="1">
                <a:solidFill>
                  <a:srgbClr val="AAB6CC"/>
                </a:solidFill>
                <a:latin typeface="Aptos"/>
              </a:defRPr>
            </a:pPr>
            <a:r>
              <a:t>opens</a:t>
            </a:r>
          </a:p>
        </p:txBody>
      </p:sp>
      <p:sp>
        <p:nvSpPr>
          <p:cNvPr id="21" name="Rounded Rectangle 20"/>
          <p:cNvSpPr/>
          <p:nvPr/>
        </p:nvSpPr>
        <p:spPr>
          <a:xfrm>
            <a:off x="777240" y="1828800"/>
            <a:ext cx="1463040" cy="576072"/>
          </a:xfrm>
          <a:prstGeom prst="roundRect">
            <a:avLst/>
          </a:prstGeom>
          <a:solidFill>
            <a:srgbClr val="7456EB"/>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7" y="1892807"/>
            <a:ext cx="1335024" cy="201168"/>
          </a:xfrm>
          <a:prstGeom prst="rect">
            <a:avLst/>
          </a:prstGeom>
          <a:noFill/>
        </p:spPr>
        <p:txBody>
          <a:bodyPr wrap="square" lIns="27432" rIns="27432" tIns="27432" bIns="27432" anchor="ctr">
            <a:spAutoFit/>
          </a:bodyPr>
          <a:lstStyle/>
          <a:p>
            <a:pPr algn="ctr">
              <a:defRPr sz="1100" b="1">
                <a:solidFill>
                  <a:srgbClr val="F6F8FC"/>
                </a:solidFill>
                <a:latin typeface="Aptos"/>
              </a:defRPr>
            </a:pPr>
            <a:r>
              <a:t>Contact</a:t>
            </a:r>
          </a:p>
        </p:txBody>
      </p:sp>
      <p:sp>
        <p:nvSpPr>
          <p:cNvPr id="23" name="TextBox 22"/>
          <p:cNvSpPr txBox="1"/>
          <p:nvPr/>
        </p:nvSpPr>
        <p:spPr>
          <a:xfrm>
            <a:off x="832103" y="2112264"/>
            <a:ext cx="1353312" cy="128016"/>
          </a:xfrm>
          <a:prstGeom prst="rect">
            <a:avLst/>
          </a:prstGeom>
          <a:noFill/>
        </p:spPr>
        <p:txBody>
          <a:bodyPr wrap="square" lIns="27432" rIns="27432" tIns="27432" bIns="27432" anchor="t">
            <a:spAutoFit/>
          </a:bodyPr>
          <a:lstStyle/>
          <a:p>
            <a:pPr algn="ctr">
              <a:defRPr sz="700" b="0">
                <a:solidFill>
                  <a:srgbClr val="F6F8FC"/>
                </a:solidFill>
                <a:latin typeface="Aptos"/>
              </a:defRPr>
            </a:pPr>
            <a:r>
              <a:t>Dataverse table</a:t>
            </a:r>
          </a:p>
        </p:txBody>
      </p:sp>
      <p:sp>
        <p:nvSpPr>
          <p:cNvPr id="24" name="Rounded Rectangle 23"/>
          <p:cNvSpPr/>
          <p:nvPr/>
        </p:nvSpPr>
        <p:spPr>
          <a:xfrm>
            <a:off x="2834640" y="1828800"/>
            <a:ext cx="1463040" cy="576072"/>
          </a:xfrm>
          <a:prstGeom prst="roundRect">
            <a:avLst/>
          </a:prstGeom>
          <a:solidFill>
            <a:srgbClr val="7456EB"/>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98648" y="1892807"/>
            <a:ext cx="1335024" cy="201168"/>
          </a:xfrm>
          <a:prstGeom prst="rect">
            <a:avLst/>
          </a:prstGeom>
          <a:noFill/>
        </p:spPr>
        <p:txBody>
          <a:bodyPr wrap="square" lIns="27432" rIns="27432" tIns="27432" bIns="27432" anchor="ctr">
            <a:spAutoFit/>
          </a:bodyPr>
          <a:lstStyle/>
          <a:p>
            <a:pPr algn="ctr">
              <a:defRPr sz="1100" b="1">
                <a:solidFill>
                  <a:srgbClr val="F6F8FC"/>
                </a:solidFill>
                <a:latin typeface="Aptos"/>
              </a:defRPr>
            </a:pPr>
            <a:r>
              <a:t>Account</a:t>
            </a:r>
          </a:p>
        </p:txBody>
      </p:sp>
      <p:sp>
        <p:nvSpPr>
          <p:cNvPr id="26" name="TextBox 25"/>
          <p:cNvSpPr txBox="1"/>
          <p:nvPr/>
        </p:nvSpPr>
        <p:spPr>
          <a:xfrm>
            <a:off x="2889504" y="2112264"/>
            <a:ext cx="1353312" cy="128016"/>
          </a:xfrm>
          <a:prstGeom prst="rect">
            <a:avLst/>
          </a:prstGeom>
          <a:noFill/>
        </p:spPr>
        <p:txBody>
          <a:bodyPr wrap="square" lIns="27432" rIns="27432" tIns="27432" bIns="27432" anchor="t">
            <a:spAutoFit/>
          </a:bodyPr>
          <a:lstStyle/>
          <a:p>
            <a:pPr algn="ctr">
              <a:defRPr sz="700" b="0">
                <a:solidFill>
                  <a:srgbClr val="F6F8FC"/>
                </a:solidFill>
                <a:latin typeface="Aptos"/>
              </a:defRPr>
            </a:pPr>
            <a:r>
              <a:t>Dataverse table</a:t>
            </a:r>
          </a:p>
        </p:txBody>
      </p:sp>
      <p:sp>
        <p:nvSpPr>
          <p:cNvPr id="27" name="Rounded Rectangle 26"/>
          <p:cNvSpPr/>
          <p:nvPr/>
        </p:nvSpPr>
        <p:spPr>
          <a:xfrm>
            <a:off x="4892040" y="1828800"/>
            <a:ext cx="1463040" cy="576072"/>
          </a:xfrm>
          <a:prstGeom prst="roundRect">
            <a:avLst/>
          </a:prstGeom>
          <a:solidFill>
            <a:srgbClr val="3584E4"/>
          </a:solidFill>
          <a:ln w="12700">
            <a:solidFill>
              <a:srgbClr val="358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6048" y="1892807"/>
            <a:ext cx="1335024" cy="201168"/>
          </a:xfrm>
          <a:prstGeom prst="rect">
            <a:avLst/>
          </a:prstGeom>
          <a:noFill/>
        </p:spPr>
        <p:txBody>
          <a:bodyPr wrap="square" lIns="27432" rIns="27432" tIns="27432" bIns="27432" anchor="ctr">
            <a:spAutoFit/>
          </a:bodyPr>
          <a:lstStyle/>
          <a:p>
            <a:pPr algn="ctr">
              <a:defRPr sz="1100" b="1">
                <a:solidFill>
                  <a:srgbClr val="F6F8FC"/>
                </a:solidFill>
                <a:latin typeface="Aptos"/>
              </a:defRPr>
            </a:pPr>
            <a:r>
              <a:t>Order</a:t>
            </a:r>
          </a:p>
        </p:txBody>
      </p:sp>
      <p:sp>
        <p:nvSpPr>
          <p:cNvPr id="29" name="TextBox 28"/>
          <p:cNvSpPr txBox="1"/>
          <p:nvPr/>
        </p:nvSpPr>
        <p:spPr>
          <a:xfrm>
            <a:off x="4946903" y="2112264"/>
            <a:ext cx="1353312" cy="128016"/>
          </a:xfrm>
          <a:prstGeom prst="rect">
            <a:avLst/>
          </a:prstGeom>
          <a:noFill/>
        </p:spPr>
        <p:txBody>
          <a:bodyPr wrap="square" lIns="27432" rIns="27432" tIns="27432" bIns="27432" anchor="t">
            <a:spAutoFit/>
          </a:bodyPr>
          <a:lstStyle/>
          <a:p>
            <a:pPr algn="ctr">
              <a:defRPr sz="700" b="0">
                <a:solidFill>
                  <a:srgbClr val="F6F8FC"/>
                </a:solidFill>
                <a:latin typeface="Aptos"/>
              </a:defRPr>
            </a:pPr>
            <a:r>
              <a:t>Dataverse table</a:t>
            </a:r>
          </a:p>
        </p:txBody>
      </p:sp>
      <p:sp>
        <p:nvSpPr>
          <p:cNvPr id="30" name="Rounded Rectangle 29"/>
          <p:cNvSpPr/>
          <p:nvPr/>
        </p:nvSpPr>
        <p:spPr>
          <a:xfrm>
            <a:off x="6949440" y="1828800"/>
            <a:ext cx="1463040" cy="576072"/>
          </a:xfrm>
          <a:prstGeom prst="roundRect">
            <a:avLst/>
          </a:prstGeom>
          <a:solidFill>
            <a:srgbClr val="1CBEB8"/>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13448" y="1892807"/>
            <a:ext cx="1335024" cy="201168"/>
          </a:xfrm>
          <a:prstGeom prst="rect">
            <a:avLst/>
          </a:prstGeom>
          <a:noFill/>
        </p:spPr>
        <p:txBody>
          <a:bodyPr wrap="square" lIns="27432" rIns="27432" tIns="27432" bIns="27432" anchor="ctr">
            <a:spAutoFit/>
          </a:bodyPr>
          <a:lstStyle/>
          <a:p>
            <a:pPr algn="ctr">
              <a:defRPr sz="1100" b="1">
                <a:solidFill>
                  <a:srgbClr val="F6F8FC"/>
                </a:solidFill>
                <a:latin typeface="Aptos"/>
              </a:defRPr>
            </a:pPr>
            <a:r>
              <a:t>Order Line</a:t>
            </a:r>
          </a:p>
        </p:txBody>
      </p:sp>
      <p:sp>
        <p:nvSpPr>
          <p:cNvPr id="32" name="TextBox 31"/>
          <p:cNvSpPr txBox="1"/>
          <p:nvPr/>
        </p:nvSpPr>
        <p:spPr>
          <a:xfrm>
            <a:off x="7004303" y="2112264"/>
            <a:ext cx="1353312" cy="128016"/>
          </a:xfrm>
          <a:prstGeom prst="rect">
            <a:avLst/>
          </a:prstGeom>
          <a:noFill/>
        </p:spPr>
        <p:txBody>
          <a:bodyPr wrap="square" lIns="27432" rIns="27432" tIns="27432" bIns="27432" anchor="t">
            <a:spAutoFit/>
          </a:bodyPr>
          <a:lstStyle/>
          <a:p>
            <a:pPr algn="ctr">
              <a:defRPr sz="700" b="0">
                <a:solidFill>
                  <a:srgbClr val="F6F8FC"/>
                </a:solidFill>
                <a:latin typeface="Aptos"/>
              </a:defRPr>
            </a:pPr>
            <a:r>
              <a:t>Dataverse table</a:t>
            </a:r>
          </a:p>
        </p:txBody>
      </p:sp>
      <p:sp>
        <p:nvSpPr>
          <p:cNvPr id="33" name="Rounded Rectangle 32"/>
          <p:cNvSpPr/>
          <p:nvPr/>
        </p:nvSpPr>
        <p:spPr>
          <a:xfrm>
            <a:off x="9281160" y="1828800"/>
            <a:ext cx="1463040" cy="576072"/>
          </a:xfrm>
          <a:prstGeom prst="roundRect">
            <a:avLst/>
          </a:prstGeom>
          <a:solidFill>
            <a:srgbClr val="2EA44F"/>
          </a:solidFill>
          <a:ln w="12700">
            <a:solidFill>
              <a:srgbClr val="2EA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45168" y="1892807"/>
            <a:ext cx="1335024" cy="201168"/>
          </a:xfrm>
          <a:prstGeom prst="rect">
            <a:avLst/>
          </a:prstGeom>
          <a:noFill/>
        </p:spPr>
        <p:txBody>
          <a:bodyPr wrap="square" lIns="27432" rIns="27432" tIns="27432" bIns="27432" anchor="ctr">
            <a:spAutoFit/>
          </a:bodyPr>
          <a:lstStyle/>
          <a:p>
            <a:pPr algn="ctr">
              <a:defRPr sz="1100" b="1">
                <a:solidFill>
                  <a:srgbClr val="F6F8FC"/>
                </a:solidFill>
                <a:latin typeface="Aptos"/>
              </a:defRPr>
            </a:pPr>
            <a:r>
              <a:t>Product</a:t>
            </a:r>
          </a:p>
        </p:txBody>
      </p:sp>
      <p:sp>
        <p:nvSpPr>
          <p:cNvPr id="35" name="TextBox 34"/>
          <p:cNvSpPr txBox="1"/>
          <p:nvPr/>
        </p:nvSpPr>
        <p:spPr>
          <a:xfrm>
            <a:off x="9336024" y="2112264"/>
            <a:ext cx="1353312" cy="128016"/>
          </a:xfrm>
          <a:prstGeom prst="rect">
            <a:avLst/>
          </a:prstGeom>
          <a:noFill/>
        </p:spPr>
        <p:txBody>
          <a:bodyPr wrap="square" lIns="27432" rIns="27432" tIns="27432" bIns="27432" anchor="t">
            <a:spAutoFit/>
          </a:bodyPr>
          <a:lstStyle/>
          <a:p>
            <a:pPr algn="ctr">
              <a:defRPr sz="700" b="0">
                <a:solidFill>
                  <a:srgbClr val="F6F8FC"/>
                </a:solidFill>
                <a:latin typeface="Aptos"/>
              </a:defRPr>
            </a:pPr>
            <a:r>
              <a:t>Dataverse table</a:t>
            </a:r>
          </a:p>
        </p:txBody>
      </p:sp>
      <p:sp>
        <p:nvSpPr>
          <p:cNvPr id="36" name="Rounded Rectangle 35"/>
          <p:cNvSpPr/>
          <p:nvPr/>
        </p:nvSpPr>
        <p:spPr>
          <a:xfrm>
            <a:off x="4892040" y="4069080"/>
            <a:ext cx="1463040" cy="576072"/>
          </a:xfrm>
          <a:prstGeom prst="roundRect">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56048" y="4133088"/>
            <a:ext cx="1335024" cy="201168"/>
          </a:xfrm>
          <a:prstGeom prst="rect">
            <a:avLst/>
          </a:prstGeom>
          <a:noFill/>
        </p:spPr>
        <p:txBody>
          <a:bodyPr wrap="square" lIns="27432" rIns="27432" tIns="27432" bIns="27432" anchor="ctr">
            <a:spAutoFit/>
          </a:bodyPr>
          <a:lstStyle/>
          <a:p>
            <a:pPr algn="ctr">
              <a:defRPr sz="1100" b="1">
                <a:solidFill>
                  <a:srgbClr val="F6F8FC"/>
                </a:solidFill>
                <a:latin typeface="Aptos"/>
              </a:defRPr>
            </a:pPr>
            <a:r>
              <a:t>Invoice</a:t>
            </a:r>
          </a:p>
        </p:txBody>
      </p:sp>
      <p:sp>
        <p:nvSpPr>
          <p:cNvPr id="38" name="TextBox 37"/>
          <p:cNvSpPr txBox="1"/>
          <p:nvPr/>
        </p:nvSpPr>
        <p:spPr>
          <a:xfrm>
            <a:off x="4946903" y="4352544"/>
            <a:ext cx="1353312" cy="128016"/>
          </a:xfrm>
          <a:prstGeom prst="rect">
            <a:avLst/>
          </a:prstGeom>
          <a:noFill/>
        </p:spPr>
        <p:txBody>
          <a:bodyPr wrap="square" lIns="27432" rIns="27432" tIns="27432" bIns="27432" anchor="t">
            <a:spAutoFit/>
          </a:bodyPr>
          <a:lstStyle/>
          <a:p>
            <a:pPr algn="ctr">
              <a:defRPr sz="700" b="0">
                <a:solidFill>
                  <a:srgbClr val="F6F8FC"/>
                </a:solidFill>
                <a:latin typeface="Aptos"/>
              </a:defRPr>
            </a:pPr>
            <a:r>
              <a:t>Dataverse table</a:t>
            </a:r>
          </a:p>
        </p:txBody>
      </p:sp>
      <p:sp>
        <p:nvSpPr>
          <p:cNvPr id="39" name="Rounded Rectangle 38"/>
          <p:cNvSpPr/>
          <p:nvPr/>
        </p:nvSpPr>
        <p:spPr>
          <a:xfrm>
            <a:off x="1828800" y="4069080"/>
            <a:ext cx="1463040" cy="576072"/>
          </a:xfrm>
          <a:prstGeom prst="roundRect">
            <a:avLst/>
          </a:prstGeom>
          <a:solidFill>
            <a:srgbClr val="DC4B4B"/>
          </a:solidFill>
          <a:ln w="12700">
            <a:solidFill>
              <a:srgbClr val="DC4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892807" y="4133088"/>
            <a:ext cx="1335024" cy="201168"/>
          </a:xfrm>
          <a:prstGeom prst="rect">
            <a:avLst/>
          </a:prstGeom>
          <a:noFill/>
        </p:spPr>
        <p:txBody>
          <a:bodyPr wrap="square" lIns="27432" rIns="27432" tIns="27432" bIns="27432" anchor="ctr">
            <a:spAutoFit/>
          </a:bodyPr>
          <a:lstStyle/>
          <a:p>
            <a:pPr algn="ctr">
              <a:defRPr sz="1100" b="1">
                <a:solidFill>
                  <a:srgbClr val="F6F8FC"/>
                </a:solidFill>
                <a:latin typeface="Aptos"/>
              </a:defRPr>
            </a:pPr>
            <a:r>
              <a:t>Service Case</a:t>
            </a:r>
          </a:p>
        </p:txBody>
      </p:sp>
      <p:sp>
        <p:nvSpPr>
          <p:cNvPr id="41" name="TextBox 40"/>
          <p:cNvSpPr txBox="1"/>
          <p:nvPr/>
        </p:nvSpPr>
        <p:spPr>
          <a:xfrm>
            <a:off x="1883664" y="4352544"/>
            <a:ext cx="1353312" cy="128016"/>
          </a:xfrm>
          <a:prstGeom prst="rect">
            <a:avLst/>
          </a:prstGeom>
          <a:noFill/>
        </p:spPr>
        <p:txBody>
          <a:bodyPr wrap="square" lIns="27432" rIns="27432" tIns="27432" bIns="27432" anchor="t">
            <a:spAutoFit/>
          </a:bodyPr>
          <a:lstStyle/>
          <a:p>
            <a:pPr algn="ctr">
              <a:defRPr sz="700" b="0">
                <a:solidFill>
                  <a:srgbClr val="F6F8FC"/>
                </a:solidFill>
                <a:latin typeface="Aptos"/>
              </a:defRPr>
            </a:pPr>
            <a:r>
              <a:t>Dataverse table</a:t>
            </a:r>
          </a:p>
        </p:txBody>
      </p:sp>
      <p:sp>
        <p:nvSpPr>
          <p:cNvPr id="42" name="TextBox 41"/>
          <p:cNvSpPr txBox="1"/>
          <p:nvPr/>
        </p:nvSpPr>
        <p:spPr>
          <a:xfrm>
            <a:off x="3246120" y="5486400"/>
            <a:ext cx="5669280" cy="365760"/>
          </a:xfrm>
          <a:prstGeom prst="rect">
            <a:avLst/>
          </a:prstGeom>
          <a:noFill/>
        </p:spPr>
        <p:txBody>
          <a:bodyPr wrap="square" lIns="27432" rIns="27432" tIns="27432" bIns="27432" anchor="t">
            <a:spAutoFit/>
          </a:bodyPr>
          <a:lstStyle/>
          <a:p>
            <a:pPr algn="ctr">
              <a:defRPr sz="1700" b="1">
                <a:solidFill>
                  <a:srgbClr val="F6F8FC"/>
                </a:solidFill>
                <a:latin typeface="Aptos"/>
              </a:defRPr>
            </a:pPr>
            <a:r>
              <a:t>Keys + lookup GUIDs become typed graph endpoints</a:t>
            </a:r>
          </a:p>
        </p:txBody>
      </p:sp>
      <p:sp>
        <p:nvSpPr>
          <p:cNvPr id="43" name="TextBox 42"/>
          <p:cNvSpPr txBox="1"/>
          <p:nvPr/>
        </p:nvSpPr>
        <p:spPr>
          <a:xfrm>
            <a:off x="3886200" y="5961888"/>
            <a:ext cx="4297680" cy="274320"/>
          </a:xfrm>
          <a:prstGeom prst="rect">
            <a:avLst/>
          </a:prstGeom>
          <a:noFill/>
        </p:spPr>
        <p:txBody>
          <a:bodyPr wrap="square" lIns="27432" rIns="27432" tIns="18288" bIns="18288">
            <a:spAutoFit/>
          </a:bodyPr>
          <a:lstStyle/>
          <a:p>
            <a:pPr algn="ctr"/>
            <a:r>
              <a:rPr sz="1200" b="1">
                <a:solidFill>
                  <a:srgbClr val="A78BFA"/>
                </a:solidFill>
                <a:latin typeface="Cascadia Mono"/>
              </a:rPr>
              <a:t>Account:</a:t>
            </a:r>
            <a:r>
              <a:rPr sz="1200" b="0">
                <a:solidFill>
                  <a:srgbClr val="E7ECF5"/>
                </a:solidFill>
                <a:latin typeface="Cascadia Mono"/>
              </a:rPr>
              <a:t>&lt;guid&gt;  →  Order:</a:t>
            </a:r>
            <a:r>
              <a:rPr sz="1200" b="1">
                <a:solidFill>
                  <a:srgbClr val="1CBEB8"/>
                </a:solidFill>
                <a:latin typeface="Cascadia Mono"/>
              </a:rPr>
              <a:t>&lt;guid&gt;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MANAGED SYNCHRONIZATION</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Landing the data: Dataverse Link to Fabric</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06</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Oval 6"/>
          <p:cNvSpPr/>
          <p:nvPr/>
        </p:nvSpPr>
        <p:spPr>
          <a:xfrm>
            <a:off x="731520" y="1600200"/>
            <a:ext cx="475488" cy="475488"/>
          </a:xfrm>
          <a:prstGeom prst="ellipse">
            <a:avLst/>
          </a:prstGeom>
          <a:solidFill>
            <a:srgbClr val="7456EB"/>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19072"/>
            <a:ext cx="475488" cy="182880"/>
          </a:xfrm>
          <a:prstGeom prst="rect">
            <a:avLst/>
          </a:prstGeom>
          <a:noFill/>
        </p:spPr>
        <p:txBody>
          <a:bodyPr wrap="square" lIns="27432" rIns="27432" tIns="27432" bIns="27432" anchor="t">
            <a:spAutoFit/>
          </a:bodyPr>
          <a:lstStyle/>
          <a:p>
            <a:pPr algn="ctr">
              <a:defRPr sz="1100" b="1">
                <a:solidFill>
                  <a:srgbClr val="F6F8FC"/>
                </a:solidFill>
                <a:latin typeface="Aptos"/>
              </a:defRPr>
            </a:pPr>
            <a:r>
              <a:t>1</a:t>
            </a:r>
          </a:p>
        </p:txBody>
      </p:sp>
      <p:sp>
        <p:nvSpPr>
          <p:cNvPr id="9" name="TextBox 8"/>
          <p:cNvSpPr txBox="1"/>
          <p:nvPr/>
        </p:nvSpPr>
        <p:spPr>
          <a:xfrm>
            <a:off x="1417320" y="1618488"/>
            <a:ext cx="2743200" cy="256032"/>
          </a:xfrm>
          <a:prstGeom prst="rect">
            <a:avLst/>
          </a:prstGeom>
          <a:noFill/>
        </p:spPr>
        <p:txBody>
          <a:bodyPr wrap="square" lIns="27432" rIns="27432" tIns="27432" bIns="27432" anchor="t">
            <a:spAutoFit/>
          </a:bodyPr>
          <a:lstStyle/>
          <a:p>
            <a:pPr algn="l">
              <a:defRPr sz="1500" b="1">
                <a:solidFill>
                  <a:srgbClr val="F6F8FC"/>
                </a:solidFill>
                <a:latin typeface="Aptos"/>
              </a:defRPr>
            </a:pPr>
            <a:r>
              <a:t>Enable Track changes</a:t>
            </a:r>
          </a:p>
        </p:txBody>
      </p:sp>
      <p:sp>
        <p:nvSpPr>
          <p:cNvPr id="10" name="TextBox 9"/>
          <p:cNvSpPr txBox="1"/>
          <p:nvPr/>
        </p:nvSpPr>
        <p:spPr>
          <a:xfrm>
            <a:off x="1417320" y="1938528"/>
            <a:ext cx="3749039" cy="320040"/>
          </a:xfrm>
          <a:prstGeom prst="rect">
            <a:avLst/>
          </a:prstGeom>
          <a:noFill/>
        </p:spPr>
        <p:txBody>
          <a:bodyPr wrap="square" lIns="27432" rIns="27432" tIns="27432" bIns="27432" anchor="t">
            <a:spAutoFit/>
          </a:bodyPr>
          <a:lstStyle/>
          <a:p>
            <a:pPr algn="l">
              <a:defRPr sz="1100" b="0">
                <a:solidFill>
                  <a:srgbClr val="AAB6CC"/>
                </a:solidFill>
                <a:latin typeface="Aptos"/>
              </a:defRPr>
            </a:pPr>
            <a:r>
              <a:t>Required on selected Dataverse tables</a:t>
            </a:r>
          </a:p>
        </p:txBody>
      </p:sp>
      <p:sp>
        <p:nvSpPr>
          <p:cNvPr id="11" name="Oval 10"/>
          <p:cNvSpPr/>
          <p:nvPr/>
        </p:nvSpPr>
        <p:spPr>
          <a:xfrm>
            <a:off x="731520" y="2651760"/>
            <a:ext cx="475488" cy="475488"/>
          </a:xfrm>
          <a:prstGeom prst="ellipse">
            <a:avLst/>
          </a:prstGeom>
          <a:solidFill>
            <a:srgbClr val="7456EB"/>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770632"/>
            <a:ext cx="475488" cy="182880"/>
          </a:xfrm>
          <a:prstGeom prst="rect">
            <a:avLst/>
          </a:prstGeom>
          <a:noFill/>
        </p:spPr>
        <p:txBody>
          <a:bodyPr wrap="square" lIns="27432" rIns="27432" tIns="27432" bIns="27432" anchor="t">
            <a:spAutoFit/>
          </a:bodyPr>
          <a:lstStyle/>
          <a:p>
            <a:pPr algn="ctr">
              <a:defRPr sz="1100" b="1">
                <a:solidFill>
                  <a:srgbClr val="F6F8FC"/>
                </a:solidFill>
                <a:latin typeface="Aptos"/>
              </a:defRPr>
            </a:pPr>
            <a:r>
              <a:t>2</a:t>
            </a:r>
          </a:p>
        </p:txBody>
      </p:sp>
      <p:sp>
        <p:nvSpPr>
          <p:cNvPr id="13" name="TextBox 12"/>
          <p:cNvSpPr txBox="1"/>
          <p:nvPr/>
        </p:nvSpPr>
        <p:spPr>
          <a:xfrm>
            <a:off x="1417320" y="2670048"/>
            <a:ext cx="2743200" cy="256032"/>
          </a:xfrm>
          <a:prstGeom prst="rect">
            <a:avLst/>
          </a:prstGeom>
          <a:noFill/>
        </p:spPr>
        <p:txBody>
          <a:bodyPr wrap="square" lIns="27432" rIns="27432" tIns="27432" bIns="27432" anchor="t">
            <a:spAutoFit/>
          </a:bodyPr>
          <a:lstStyle/>
          <a:p>
            <a:pPr algn="l">
              <a:defRPr sz="1500" b="1">
                <a:solidFill>
                  <a:srgbClr val="F6F8FC"/>
                </a:solidFill>
                <a:latin typeface="Aptos"/>
              </a:defRPr>
            </a:pPr>
            <a:r>
              <a:t>Create workspace identity</a:t>
            </a:r>
          </a:p>
        </p:txBody>
      </p:sp>
      <p:sp>
        <p:nvSpPr>
          <p:cNvPr id="14" name="TextBox 13"/>
          <p:cNvSpPr txBox="1"/>
          <p:nvPr/>
        </p:nvSpPr>
        <p:spPr>
          <a:xfrm>
            <a:off x="1417320" y="2990088"/>
            <a:ext cx="3749039" cy="320040"/>
          </a:xfrm>
          <a:prstGeom prst="rect">
            <a:avLst/>
          </a:prstGeom>
          <a:noFill/>
        </p:spPr>
        <p:txBody>
          <a:bodyPr wrap="square" lIns="27432" rIns="27432" tIns="27432" bIns="27432" anchor="t">
            <a:spAutoFit/>
          </a:bodyPr>
          <a:lstStyle/>
          <a:p>
            <a:pPr algn="l">
              <a:defRPr sz="1100" b="0">
                <a:solidFill>
                  <a:srgbClr val="AAB6CC"/>
                </a:solidFill>
                <a:latin typeface="Aptos"/>
              </a:defRPr>
            </a:pPr>
            <a:r>
              <a:t>Add it as a Dataverse application user</a:t>
            </a:r>
          </a:p>
        </p:txBody>
      </p:sp>
      <p:sp>
        <p:nvSpPr>
          <p:cNvPr id="15" name="Oval 14"/>
          <p:cNvSpPr/>
          <p:nvPr/>
        </p:nvSpPr>
        <p:spPr>
          <a:xfrm>
            <a:off x="731520" y="3703320"/>
            <a:ext cx="475488" cy="475488"/>
          </a:xfrm>
          <a:prstGeom prst="ellipse">
            <a:avLst/>
          </a:prstGeom>
          <a:solidFill>
            <a:srgbClr val="1CBEB8"/>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22191"/>
            <a:ext cx="475488" cy="182880"/>
          </a:xfrm>
          <a:prstGeom prst="rect">
            <a:avLst/>
          </a:prstGeom>
          <a:noFill/>
        </p:spPr>
        <p:txBody>
          <a:bodyPr wrap="square" lIns="27432" rIns="27432" tIns="27432" bIns="27432" anchor="t">
            <a:spAutoFit/>
          </a:bodyPr>
          <a:lstStyle/>
          <a:p>
            <a:pPr algn="ctr">
              <a:defRPr sz="1100" b="1">
                <a:solidFill>
                  <a:srgbClr val="F6F8FC"/>
                </a:solidFill>
                <a:latin typeface="Aptos"/>
              </a:defRPr>
            </a:pPr>
            <a:r>
              <a:t>3</a:t>
            </a:r>
          </a:p>
        </p:txBody>
      </p:sp>
      <p:sp>
        <p:nvSpPr>
          <p:cNvPr id="17" name="TextBox 16"/>
          <p:cNvSpPr txBox="1"/>
          <p:nvPr/>
        </p:nvSpPr>
        <p:spPr>
          <a:xfrm>
            <a:off x="1417320" y="3721607"/>
            <a:ext cx="2743200" cy="256032"/>
          </a:xfrm>
          <a:prstGeom prst="rect">
            <a:avLst/>
          </a:prstGeom>
          <a:noFill/>
        </p:spPr>
        <p:txBody>
          <a:bodyPr wrap="square" lIns="27432" rIns="27432" tIns="27432" bIns="27432" anchor="t">
            <a:spAutoFit/>
          </a:bodyPr>
          <a:lstStyle/>
          <a:p>
            <a:pPr algn="l">
              <a:defRPr sz="1500" b="1">
                <a:solidFill>
                  <a:srgbClr val="F6F8FC"/>
                </a:solidFill>
                <a:latin typeface="Aptos"/>
              </a:defRPr>
            </a:pPr>
            <a:r>
              <a:t>Run Link data via Fabric</a:t>
            </a:r>
          </a:p>
        </p:txBody>
      </p:sp>
      <p:sp>
        <p:nvSpPr>
          <p:cNvPr id="18" name="TextBox 17"/>
          <p:cNvSpPr txBox="1"/>
          <p:nvPr/>
        </p:nvSpPr>
        <p:spPr>
          <a:xfrm>
            <a:off x="1417320" y="4041648"/>
            <a:ext cx="3749039" cy="320040"/>
          </a:xfrm>
          <a:prstGeom prst="rect">
            <a:avLst/>
          </a:prstGeom>
          <a:noFill/>
        </p:spPr>
        <p:txBody>
          <a:bodyPr wrap="square" lIns="27432" rIns="27432" tIns="27432" bIns="27432" anchor="t">
            <a:spAutoFit/>
          </a:bodyPr>
          <a:lstStyle/>
          <a:p>
            <a:pPr algn="l">
              <a:defRPr sz="1100" b="0">
                <a:solidFill>
                  <a:srgbClr val="AAB6CC"/>
                </a:solidFill>
                <a:latin typeface="Aptos"/>
              </a:defRPr>
            </a:pPr>
            <a:r>
              <a:t>Select workspace, identity, and tables</a:t>
            </a:r>
          </a:p>
        </p:txBody>
      </p:sp>
      <p:sp>
        <p:nvSpPr>
          <p:cNvPr id="19" name="Oval 18"/>
          <p:cNvSpPr/>
          <p:nvPr/>
        </p:nvSpPr>
        <p:spPr>
          <a:xfrm>
            <a:off x="731520" y="4754879"/>
            <a:ext cx="475488" cy="475488"/>
          </a:xfrm>
          <a:prstGeom prst="ellipse">
            <a:avLst/>
          </a:prstGeom>
          <a:solidFill>
            <a:srgbClr val="1CBEB8"/>
          </a:solidFill>
          <a:ln>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873751"/>
            <a:ext cx="475488" cy="182880"/>
          </a:xfrm>
          <a:prstGeom prst="rect">
            <a:avLst/>
          </a:prstGeom>
          <a:noFill/>
        </p:spPr>
        <p:txBody>
          <a:bodyPr wrap="square" lIns="27432" rIns="27432" tIns="27432" bIns="27432" anchor="t">
            <a:spAutoFit/>
          </a:bodyPr>
          <a:lstStyle/>
          <a:p>
            <a:pPr algn="ctr">
              <a:defRPr sz="1100" b="1">
                <a:solidFill>
                  <a:srgbClr val="F6F8FC"/>
                </a:solidFill>
                <a:latin typeface="Aptos"/>
              </a:defRPr>
            </a:pPr>
            <a:r>
              <a:t>4</a:t>
            </a:r>
          </a:p>
        </p:txBody>
      </p:sp>
      <p:sp>
        <p:nvSpPr>
          <p:cNvPr id="21" name="TextBox 20"/>
          <p:cNvSpPr txBox="1"/>
          <p:nvPr/>
        </p:nvSpPr>
        <p:spPr>
          <a:xfrm>
            <a:off x="1417320" y="4773167"/>
            <a:ext cx="2743200" cy="256032"/>
          </a:xfrm>
          <a:prstGeom prst="rect">
            <a:avLst/>
          </a:prstGeom>
          <a:noFill/>
        </p:spPr>
        <p:txBody>
          <a:bodyPr wrap="square" lIns="27432" rIns="27432" tIns="27432" bIns="27432" anchor="t">
            <a:spAutoFit/>
          </a:bodyPr>
          <a:lstStyle/>
          <a:p>
            <a:pPr algn="l">
              <a:defRPr sz="1500" b="1">
                <a:solidFill>
                  <a:srgbClr val="F6F8FC"/>
                </a:solidFill>
                <a:latin typeface="Aptos"/>
              </a:defRPr>
            </a:pPr>
            <a:r>
              <a:t>Wait for Active</a:t>
            </a:r>
          </a:p>
        </p:txBody>
      </p:sp>
      <p:sp>
        <p:nvSpPr>
          <p:cNvPr id="22" name="TextBox 21"/>
          <p:cNvSpPr txBox="1"/>
          <p:nvPr/>
        </p:nvSpPr>
        <p:spPr>
          <a:xfrm>
            <a:off x="1417320" y="5093207"/>
            <a:ext cx="3749039" cy="320040"/>
          </a:xfrm>
          <a:prstGeom prst="rect">
            <a:avLst/>
          </a:prstGeom>
          <a:noFill/>
        </p:spPr>
        <p:txBody>
          <a:bodyPr wrap="square" lIns="27432" rIns="27432" tIns="27432" bIns="27432" anchor="t">
            <a:spAutoFit/>
          </a:bodyPr>
          <a:lstStyle/>
          <a:p>
            <a:pPr algn="l">
              <a:defRPr sz="1100" b="0">
                <a:solidFill>
                  <a:srgbClr val="AAB6CC"/>
                </a:solidFill>
                <a:latin typeface="Aptos"/>
              </a:defRPr>
            </a:pPr>
            <a:r>
              <a:t>Initial and incremental sync can take ~60 minutes</a:t>
            </a:r>
          </a:p>
        </p:txBody>
      </p:sp>
      <p:sp>
        <p:nvSpPr>
          <p:cNvPr id="23" name="Rounded Rectangle 22"/>
          <p:cNvSpPr/>
          <p:nvPr/>
        </p:nvSpPr>
        <p:spPr>
          <a:xfrm>
            <a:off x="5943600" y="1600200"/>
            <a:ext cx="5257800" cy="4434840"/>
          </a:xfrm>
          <a:prstGeom prst="roundRect">
            <a:avLst/>
          </a:prstGeom>
          <a:solidFill>
            <a:srgbClr val="1B2741"/>
          </a:solidFill>
          <a:ln w="254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1901952"/>
            <a:ext cx="4480560" cy="320040"/>
          </a:xfrm>
          <a:prstGeom prst="rect">
            <a:avLst/>
          </a:prstGeom>
          <a:noFill/>
        </p:spPr>
        <p:txBody>
          <a:bodyPr wrap="square" lIns="27432" rIns="27432" tIns="27432" bIns="27432" anchor="t">
            <a:spAutoFit/>
          </a:bodyPr>
          <a:lstStyle/>
          <a:p>
            <a:pPr algn="l">
              <a:defRPr sz="1800" b="1">
                <a:solidFill>
                  <a:srgbClr val="1CBEB8"/>
                </a:solidFill>
                <a:latin typeface="Aptos"/>
              </a:defRPr>
            </a:pPr>
            <a:r>
              <a:t>Landing Lakehouse contract</a:t>
            </a:r>
          </a:p>
        </p:txBody>
      </p:sp>
      <p:sp>
        <p:nvSpPr>
          <p:cNvPr id="25" name="TextBox 24"/>
          <p:cNvSpPr txBox="1"/>
          <p:nvPr/>
        </p:nvSpPr>
        <p:spPr>
          <a:xfrm>
            <a:off x="6263640" y="2468880"/>
            <a:ext cx="4389120" cy="2743200"/>
          </a:xfrm>
          <a:prstGeom prst="rect">
            <a:avLst/>
          </a:prstGeom>
          <a:noFill/>
        </p:spPr>
        <p:txBody>
          <a:bodyPr wrap="square" lIns="27432" rIns="27432">
            <a:spAutoFit/>
          </a:bodyPr>
          <a:lstStyle/>
          <a:p>
            <a:pPr>
              <a:spcAft>
                <a:spcPts val="800"/>
              </a:spcAft>
              <a:defRPr sz="1400">
                <a:solidFill>
                  <a:srgbClr val="E7ECF5"/>
                </a:solidFill>
                <a:latin typeface="Aptos"/>
              </a:defRPr>
            </a:pPr>
            <a:r>
              <a:t>•  Generated by the Dataverse link</a:t>
            </a:r>
          </a:p>
          <a:p>
            <a:pPr>
              <a:spcAft>
                <a:spcPts val="800"/>
              </a:spcAft>
              <a:defRPr sz="1400">
                <a:solidFill>
                  <a:srgbClr val="E7ECF5"/>
                </a:solidFill>
                <a:latin typeface="Aptos"/>
              </a:defRPr>
            </a:pPr>
            <a:r>
              <a:t>•  Selected tables appear as Delta shortcuts</a:t>
            </a:r>
          </a:p>
          <a:p>
            <a:pPr>
              <a:spcAft>
                <a:spcPts val="800"/>
              </a:spcAft>
              <a:defRPr sz="1400">
                <a:solidFill>
                  <a:srgbClr val="E7ECF5"/>
                </a:solidFill>
                <a:latin typeface="Aptos"/>
              </a:defRPr>
            </a:pPr>
            <a:r>
              <a:t>•  Includes SQL endpoint and platform metadata</a:t>
            </a:r>
          </a:p>
          <a:p>
            <a:pPr>
              <a:spcAft>
                <a:spcPts val="800"/>
              </a:spcAft>
              <a:defRPr sz="1400">
                <a:solidFill>
                  <a:srgbClr val="E7ECF5"/>
                </a:solidFill>
                <a:latin typeface="Aptos"/>
              </a:defRPr>
            </a:pPr>
            <a:r>
              <a:t>•  Referenced by workspace + Lakehouse GUID</a:t>
            </a:r>
          </a:p>
          <a:p>
            <a:pPr>
              <a:spcAft>
                <a:spcPts val="800"/>
              </a:spcAft>
              <a:defRPr sz="1400">
                <a:solidFill>
                  <a:srgbClr val="E7ECF5"/>
                </a:solidFill>
                <a:latin typeface="Aptos"/>
              </a:defRPr>
            </a:pPr>
            <a:r>
              <a:t>•  Never parsed by generated display name</a:t>
            </a:r>
          </a:p>
          <a:p>
            <a:pPr>
              <a:spcAft>
                <a:spcPts val="800"/>
              </a:spcAft>
              <a:defRPr sz="1400">
                <a:solidFill>
                  <a:srgbClr val="E7ECF5"/>
                </a:solidFill>
                <a:latin typeface="Aptos"/>
              </a:defRPr>
            </a:pPr>
            <a:r>
              <a:t>•  Never modified by the graph notebook</a:t>
            </a:r>
          </a:p>
        </p:txBody>
      </p:sp>
      <p:sp>
        <p:nvSpPr>
          <p:cNvPr id="26" name="Rounded Rectangle 25"/>
          <p:cNvSpPr/>
          <p:nvPr/>
        </p:nvSpPr>
        <p:spPr>
          <a:xfrm>
            <a:off x="8001000" y="5440680"/>
            <a:ext cx="1463040" cy="292608"/>
          </a:xfrm>
          <a:prstGeom prst="roundRect">
            <a:avLst/>
          </a:prstGeom>
          <a:solidFill>
            <a:srgbClr val="1CBEB8"/>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0" y="5449824"/>
            <a:ext cx="1463040" cy="256032"/>
          </a:xfrm>
          <a:prstGeom prst="rect">
            <a:avLst/>
          </a:prstGeom>
          <a:noFill/>
        </p:spPr>
        <p:txBody>
          <a:bodyPr wrap="square" lIns="27432" rIns="27432" tIns="27432" bIns="27432" anchor="ctr">
            <a:spAutoFit/>
          </a:bodyPr>
          <a:lstStyle/>
          <a:p>
            <a:pPr algn="ctr">
              <a:defRPr sz="1000" b="1">
                <a:solidFill>
                  <a:srgbClr val="0B1220"/>
                </a:solidFill>
                <a:latin typeface="Aptos"/>
              </a:defRPr>
            </a:pPr>
            <a:r>
              <a:t>READ 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CODE DESIGN</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Configuration drives the graph—not hard-coded joins</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07</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640080" y="1554480"/>
            <a:ext cx="5669280" cy="4526280"/>
          </a:xfrm>
          <a:prstGeom prst="roundRect">
            <a:avLst/>
          </a:prstGeom>
          <a:solidFill>
            <a:srgbClr val="080D18"/>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59" y="1691639"/>
            <a:ext cx="2011680" cy="292608"/>
          </a:xfrm>
          <a:prstGeom prst="roundRect">
            <a:avLst/>
          </a:prstGeom>
          <a:solidFill>
            <a:srgbClr val="1B2741"/>
          </a:solidFill>
          <a:ln w="12700">
            <a:solidFill>
              <a:srgbClr val="1B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700784"/>
            <a:ext cx="2011680" cy="256032"/>
          </a:xfrm>
          <a:prstGeom prst="rect">
            <a:avLst/>
          </a:prstGeom>
          <a:noFill/>
        </p:spPr>
        <p:txBody>
          <a:bodyPr wrap="square" lIns="27432" rIns="27432" tIns="27432" bIns="27432" anchor="ctr">
            <a:spAutoFit/>
          </a:bodyPr>
          <a:lstStyle/>
          <a:p>
            <a:pPr algn="ctr">
              <a:defRPr sz="900" b="1">
                <a:solidFill>
                  <a:srgbClr val="A78BFA"/>
                </a:solidFill>
                <a:latin typeface="Aptos"/>
              </a:defRPr>
            </a:pPr>
            <a:r>
              <a:t>graph-mapping.json</a:t>
            </a:r>
          </a:p>
        </p:txBody>
      </p:sp>
      <p:sp>
        <p:nvSpPr>
          <p:cNvPr id="10" name="TextBox 9"/>
          <p:cNvSpPr txBox="1"/>
          <p:nvPr/>
        </p:nvSpPr>
        <p:spPr>
          <a:xfrm>
            <a:off x="822959" y="2084831"/>
            <a:ext cx="5303520" cy="3867912"/>
          </a:xfrm>
          <a:prstGeom prst="rect">
            <a:avLst/>
          </a:prstGeom>
          <a:noFill/>
        </p:spPr>
        <p:txBody>
          <a:bodyPr wrap="square" lIns="27432" rIns="27432" tIns="27432" bIns="27432" anchor="t">
            <a:spAutoFit/>
          </a:bodyPr>
          <a:lstStyle/>
          <a:p>
            <a:pPr algn="l">
              <a:defRPr sz="1200" b="0">
                <a:solidFill>
                  <a:srgbClr val="E7ECF5"/>
                </a:solidFill>
                <a:latin typeface="Cascadia Mono"/>
              </a:defRPr>
            </a:pPr>
            <a:r>
              <a:t>{</a:t>
            </a:r>
            <a:br/>
            <a:r>
              <a:t>  "id": "account-placed-order",</a:t>
            </a:r>
            <a:br/>
            <a:r>
              <a:t>  "type": "PLACED",</a:t>
            </a:r>
            <a:br/>
            <a:r>
              <a:t>  "table": "dfd_order",</a:t>
            </a:r>
            <a:br/>
            <a:r>
              <a:t>  "rowIdColumns": ["dfd_orderid"],</a:t>
            </a:r>
            <a:br/>
            <a:r>
              <a:t>  "sourceType": "Account",</a:t>
            </a:r>
            <a:br/>
            <a:r>
              <a:t>  "sourceColumns": [</a:t>
            </a:r>
            <a:br/>
            <a:r>
              <a:t>    "_dfd_accountid_value",</a:t>
            </a:r>
            <a:br/>
            <a:r>
              <a:t>    "dfd_accountid"</a:t>
            </a:r>
            <a:br/>
            <a:r>
              <a:t>  ],</a:t>
            </a:r>
            <a:br/>
            <a:r>
              <a:t>  "targetType": "Order",</a:t>
            </a:r>
            <a:br/>
            <a:r>
              <a:t>  "targetColumns": ["dfd_orderid"]</a:t>
            </a:r>
            <a:br/>
            <a:r>
              <a:t>}</a:t>
            </a:r>
          </a:p>
        </p:txBody>
      </p:sp>
      <p:sp>
        <p:nvSpPr>
          <p:cNvPr id="11" name="TextBox 10"/>
          <p:cNvSpPr txBox="1"/>
          <p:nvPr/>
        </p:nvSpPr>
        <p:spPr>
          <a:xfrm>
            <a:off x="6720840" y="1691640"/>
            <a:ext cx="4480560" cy="320040"/>
          </a:xfrm>
          <a:prstGeom prst="rect">
            <a:avLst/>
          </a:prstGeom>
          <a:noFill/>
        </p:spPr>
        <p:txBody>
          <a:bodyPr wrap="square" lIns="27432" rIns="27432" tIns="27432" bIns="27432" anchor="t">
            <a:spAutoFit/>
          </a:bodyPr>
          <a:lstStyle/>
          <a:p>
            <a:pPr algn="l">
              <a:defRPr sz="1900" b="1">
                <a:solidFill>
                  <a:srgbClr val="F6F8FC"/>
                </a:solidFill>
                <a:latin typeface="Aptos"/>
              </a:defRPr>
            </a:pPr>
            <a:r>
              <a:t>Why this matters</a:t>
            </a:r>
          </a:p>
        </p:txBody>
      </p:sp>
      <p:sp>
        <p:nvSpPr>
          <p:cNvPr id="12" name="Rounded Rectangle 11"/>
          <p:cNvSpPr/>
          <p:nvPr/>
        </p:nvSpPr>
        <p:spPr>
          <a:xfrm>
            <a:off x="6720840" y="2286000"/>
            <a:ext cx="1051560" cy="292608"/>
          </a:xfrm>
          <a:prstGeom prst="roundRect">
            <a:avLst/>
          </a:prstGeom>
          <a:solidFill>
            <a:srgbClr val="7456EB"/>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295144"/>
            <a:ext cx="1051560" cy="256032"/>
          </a:xfrm>
          <a:prstGeom prst="rect">
            <a:avLst/>
          </a:prstGeom>
          <a:noFill/>
        </p:spPr>
        <p:txBody>
          <a:bodyPr wrap="square" lIns="27432" rIns="27432" tIns="27432" bIns="27432" anchor="ctr">
            <a:spAutoFit/>
          </a:bodyPr>
          <a:lstStyle/>
          <a:p>
            <a:pPr algn="ctr">
              <a:defRPr sz="800" b="1">
                <a:solidFill>
                  <a:srgbClr val="F6F8FC"/>
                </a:solidFill>
                <a:latin typeface="Aptos"/>
              </a:defRPr>
            </a:pPr>
            <a:r>
              <a:t>PORTABLE</a:t>
            </a:r>
          </a:p>
        </p:txBody>
      </p:sp>
      <p:sp>
        <p:nvSpPr>
          <p:cNvPr id="14" name="TextBox 13"/>
          <p:cNvSpPr txBox="1"/>
          <p:nvPr/>
        </p:nvSpPr>
        <p:spPr>
          <a:xfrm>
            <a:off x="8001000" y="2267712"/>
            <a:ext cx="3246120" cy="548640"/>
          </a:xfrm>
          <a:prstGeom prst="rect">
            <a:avLst/>
          </a:prstGeom>
          <a:noFill/>
        </p:spPr>
        <p:txBody>
          <a:bodyPr wrap="square" lIns="27432" rIns="27432" tIns="27432" bIns="27432" anchor="t">
            <a:spAutoFit/>
          </a:bodyPr>
          <a:lstStyle/>
          <a:p>
            <a:pPr algn="l">
              <a:defRPr sz="1200" b="0">
                <a:solidFill>
                  <a:srgbClr val="E7ECF5"/>
                </a:solidFill>
                <a:latin typeface="Aptos"/>
              </a:defRPr>
            </a:pPr>
            <a:r>
              <a:t>Swap source schema mappings without forking transformation code.</a:t>
            </a:r>
          </a:p>
        </p:txBody>
      </p:sp>
      <p:sp>
        <p:nvSpPr>
          <p:cNvPr id="15" name="Rounded Rectangle 14"/>
          <p:cNvSpPr/>
          <p:nvPr/>
        </p:nvSpPr>
        <p:spPr>
          <a:xfrm>
            <a:off x="6720840" y="3182112"/>
            <a:ext cx="1051560" cy="292608"/>
          </a:xfrm>
          <a:prstGeom prst="roundRect">
            <a:avLst/>
          </a:prstGeom>
          <a:solidFill>
            <a:srgbClr val="1CBEB8"/>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3191256"/>
            <a:ext cx="1051560" cy="256032"/>
          </a:xfrm>
          <a:prstGeom prst="rect">
            <a:avLst/>
          </a:prstGeom>
          <a:noFill/>
        </p:spPr>
        <p:txBody>
          <a:bodyPr wrap="square" lIns="27432" rIns="27432" tIns="27432" bIns="27432" anchor="ctr">
            <a:spAutoFit/>
          </a:bodyPr>
          <a:lstStyle/>
          <a:p>
            <a:pPr algn="ctr">
              <a:defRPr sz="800" b="1">
                <a:solidFill>
                  <a:srgbClr val="F6F8FC"/>
                </a:solidFill>
                <a:latin typeface="Aptos"/>
              </a:defRPr>
            </a:pPr>
            <a:r>
              <a:t>EXPLICIT</a:t>
            </a:r>
          </a:p>
        </p:txBody>
      </p:sp>
      <p:sp>
        <p:nvSpPr>
          <p:cNvPr id="17" name="TextBox 16"/>
          <p:cNvSpPr txBox="1"/>
          <p:nvPr/>
        </p:nvSpPr>
        <p:spPr>
          <a:xfrm>
            <a:off x="8001000" y="3163824"/>
            <a:ext cx="3246120" cy="548640"/>
          </a:xfrm>
          <a:prstGeom prst="rect">
            <a:avLst/>
          </a:prstGeom>
          <a:noFill/>
        </p:spPr>
        <p:txBody>
          <a:bodyPr wrap="square" lIns="27432" rIns="27432" tIns="27432" bIns="27432" anchor="t">
            <a:spAutoFit/>
          </a:bodyPr>
          <a:lstStyle/>
          <a:p>
            <a:pPr algn="l">
              <a:defRPr sz="1200" b="0">
                <a:solidFill>
                  <a:srgbClr val="E7ECF5"/>
                </a:solidFill>
                <a:latin typeface="Aptos"/>
              </a:defRPr>
            </a:pPr>
            <a:r>
              <a:t>Relationship direction, endpoint types, and source row identity are reviewable.</a:t>
            </a:r>
          </a:p>
        </p:txBody>
      </p:sp>
      <p:sp>
        <p:nvSpPr>
          <p:cNvPr id="18" name="Rounded Rectangle 17"/>
          <p:cNvSpPr/>
          <p:nvPr/>
        </p:nvSpPr>
        <p:spPr>
          <a:xfrm>
            <a:off x="6720840" y="4078224"/>
            <a:ext cx="1051560" cy="292608"/>
          </a:xfrm>
          <a:prstGeom prst="roundRect">
            <a:avLst/>
          </a:prstGeom>
          <a:solidFill>
            <a:srgbClr val="7456EB"/>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4087368"/>
            <a:ext cx="1051560" cy="256032"/>
          </a:xfrm>
          <a:prstGeom prst="rect">
            <a:avLst/>
          </a:prstGeom>
          <a:noFill/>
        </p:spPr>
        <p:txBody>
          <a:bodyPr wrap="square" lIns="27432" rIns="27432" tIns="27432" bIns="27432" anchor="ctr">
            <a:spAutoFit/>
          </a:bodyPr>
          <a:lstStyle/>
          <a:p>
            <a:pPr algn="ctr">
              <a:defRPr sz="800" b="1">
                <a:solidFill>
                  <a:srgbClr val="F6F8FC"/>
                </a:solidFill>
                <a:latin typeface="Aptos"/>
              </a:defRPr>
            </a:pPr>
            <a:r>
              <a:t>RESILIENT</a:t>
            </a:r>
          </a:p>
        </p:txBody>
      </p:sp>
      <p:sp>
        <p:nvSpPr>
          <p:cNvPr id="20" name="TextBox 19"/>
          <p:cNvSpPr txBox="1"/>
          <p:nvPr/>
        </p:nvSpPr>
        <p:spPr>
          <a:xfrm>
            <a:off x="8001000" y="4059936"/>
            <a:ext cx="3246120" cy="548640"/>
          </a:xfrm>
          <a:prstGeom prst="rect">
            <a:avLst/>
          </a:prstGeom>
          <a:noFill/>
        </p:spPr>
        <p:txBody>
          <a:bodyPr wrap="square" lIns="27432" rIns="27432" tIns="27432" bIns="27432" anchor="t">
            <a:spAutoFit/>
          </a:bodyPr>
          <a:lstStyle/>
          <a:p>
            <a:pPr algn="l">
              <a:defRPr sz="1200" b="0">
                <a:solidFill>
                  <a:srgbClr val="E7ECF5"/>
                </a:solidFill>
                <a:latin typeface="Aptos"/>
              </a:defRPr>
            </a:pPr>
            <a:r>
              <a:t>Candidate columns absorb linked-table naming differences.</a:t>
            </a:r>
          </a:p>
        </p:txBody>
      </p:sp>
      <p:sp>
        <p:nvSpPr>
          <p:cNvPr id="21" name="Rounded Rectangle 20"/>
          <p:cNvSpPr/>
          <p:nvPr/>
        </p:nvSpPr>
        <p:spPr>
          <a:xfrm>
            <a:off x="6720840" y="4974336"/>
            <a:ext cx="1051560" cy="292608"/>
          </a:xfrm>
          <a:prstGeom prst="roundRect">
            <a:avLst/>
          </a:prstGeom>
          <a:solidFill>
            <a:srgbClr val="1CBEB8"/>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4983479"/>
            <a:ext cx="1051560" cy="256032"/>
          </a:xfrm>
          <a:prstGeom prst="rect">
            <a:avLst/>
          </a:prstGeom>
          <a:noFill/>
        </p:spPr>
        <p:txBody>
          <a:bodyPr wrap="square" lIns="27432" rIns="27432" tIns="27432" bIns="27432" anchor="ctr">
            <a:spAutoFit/>
          </a:bodyPr>
          <a:lstStyle/>
          <a:p>
            <a:pPr algn="ctr">
              <a:defRPr sz="800" b="1">
                <a:solidFill>
                  <a:srgbClr val="F6F8FC"/>
                </a:solidFill>
                <a:latin typeface="Aptos"/>
              </a:defRPr>
            </a:pPr>
            <a:r>
              <a:t>GOVERNED</a:t>
            </a:r>
          </a:p>
        </p:txBody>
      </p:sp>
      <p:sp>
        <p:nvSpPr>
          <p:cNvPr id="23" name="TextBox 22"/>
          <p:cNvSpPr txBox="1"/>
          <p:nvPr/>
        </p:nvSpPr>
        <p:spPr>
          <a:xfrm>
            <a:off x="8001000" y="4956048"/>
            <a:ext cx="3246120" cy="548640"/>
          </a:xfrm>
          <a:prstGeom prst="rect">
            <a:avLst/>
          </a:prstGeom>
          <a:noFill/>
        </p:spPr>
        <p:txBody>
          <a:bodyPr wrap="square" lIns="27432" rIns="27432" tIns="27432" bIns="27432" anchor="t">
            <a:spAutoFit/>
          </a:bodyPr>
          <a:lstStyle/>
          <a:p>
            <a:pPr algn="l">
              <a:defRPr sz="1200" b="0">
                <a:solidFill>
                  <a:srgbClr val="E7ECF5"/>
                </a:solidFill>
                <a:latin typeface="Aptos"/>
              </a:defRPr>
            </a:pPr>
            <a:r>
              <a:t>Mapping version is written into every curated graph row.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TRANSFORMATION ENGINE</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The Spark notebook reconstructs and validates the graph</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08</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640080" y="1572768"/>
            <a:ext cx="5349240" cy="1920240"/>
          </a:xfrm>
          <a:prstGeom prst="roundRect">
            <a:avLst/>
          </a:prstGeom>
          <a:solidFill>
            <a:srgbClr val="080D18"/>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59" y="1709928"/>
            <a:ext cx="2011680" cy="292608"/>
          </a:xfrm>
          <a:prstGeom prst="roundRect">
            <a:avLst/>
          </a:prstGeom>
          <a:solidFill>
            <a:srgbClr val="1B2741"/>
          </a:solidFill>
          <a:ln w="12700">
            <a:solidFill>
              <a:srgbClr val="1B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719072"/>
            <a:ext cx="2011680" cy="256032"/>
          </a:xfrm>
          <a:prstGeom prst="rect">
            <a:avLst/>
          </a:prstGeom>
          <a:noFill/>
        </p:spPr>
        <p:txBody>
          <a:bodyPr wrap="square" lIns="27432" rIns="27432" tIns="27432" bIns="27432" anchor="ctr">
            <a:spAutoFit/>
          </a:bodyPr>
          <a:lstStyle/>
          <a:p>
            <a:pPr algn="ctr">
              <a:defRPr sz="900" b="1">
                <a:solidFill>
                  <a:srgbClr val="A78BFA"/>
                </a:solidFill>
                <a:latin typeface="Aptos"/>
              </a:defRPr>
            </a:pPr>
            <a:r>
              <a:t>Typed node identity</a:t>
            </a:r>
          </a:p>
        </p:txBody>
      </p:sp>
      <p:sp>
        <p:nvSpPr>
          <p:cNvPr id="10" name="TextBox 9"/>
          <p:cNvSpPr txBox="1"/>
          <p:nvPr/>
        </p:nvSpPr>
        <p:spPr>
          <a:xfrm>
            <a:off x="822959" y="2103120"/>
            <a:ext cx="4983479" cy="1261872"/>
          </a:xfrm>
          <a:prstGeom prst="rect">
            <a:avLst/>
          </a:prstGeom>
          <a:noFill/>
        </p:spPr>
        <p:txBody>
          <a:bodyPr wrap="square" lIns="27432" rIns="27432" tIns="27432" bIns="27432" anchor="t">
            <a:spAutoFit/>
          </a:bodyPr>
          <a:lstStyle/>
          <a:p>
            <a:pPr algn="l">
              <a:defRPr sz="1100" b="0">
                <a:solidFill>
                  <a:srgbClr val="E7ECF5"/>
                </a:solidFill>
                <a:latin typeface="Cascadia Mono"/>
              </a:defRPr>
            </a:pPr>
            <a:r>
              <a:t>record_id = normalized_id(</a:t>
            </a:r>
            <a:br/>
            <a:r>
              <a:t>    source, node_map["idColumns"]</a:t>
            </a:r>
            <a:br/>
            <a:r>
              <a:t>)</a:t>
            </a:r>
            <a:br/>
            <a:br/>
            <a:r>
              <a:t>node_id = F.concat(</a:t>
            </a:r>
            <a:br/>
            <a:r>
              <a:t>    F.lit(f"{node_map['type']}:"),</a:t>
            </a:r>
            <a:br/>
            <a:r>
              <a:t>    record_id</a:t>
            </a:r>
            <a:br/>
            <a:r>
              <a:t>)</a:t>
            </a:r>
          </a:p>
        </p:txBody>
      </p:sp>
      <p:sp>
        <p:nvSpPr>
          <p:cNvPr id="11" name="Rounded Rectangle 10"/>
          <p:cNvSpPr/>
          <p:nvPr/>
        </p:nvSpPr>
        <p:spPr>
          <a:xfrm>
            <a:off x="6199632" y="1572768"/>
            <a:ext cx="5349240" cy="1920240"/>
          </a:xfrm>
          <a:prstGeom prst="roundRect">
            <a:avLst/>
          </a:prstGeom>
          <a:solidFill>
            <a:srgbClr val="080D18"/>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82512" y="1709928"/>
            <a:ext cx="2011680" cy="292608"/>
          </a:xfrm>
          <a:prstGeom prst="roundRect">
            <a:avLst/>
          </a:prstGeom>
          <a:solidFill>
            <a:srgbClr val="1B2741"/>
          </a:solidFill>
          <a:ln w="12700">
            <a:solidFill>
              <a:srgbClr val="1B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719072"/>
            <a:ext cx="2011680" cy="256032"/>
          </a:xfrm>
          <a:prstGeom prst="rect">
            <a:avLst/>
          </a:prstGeom>
          <a:noFill/>
        </p:spPr>
        <p:txBody>
          <a:bodyPr wrap="square" lIns="27432" rIns="27432" tIns="27432" bIns="27432" anchor="ctr">
            <a:spAutoFit/>
          </a:bodyPr>
          <a:lstStyle/>
          <a:p>
            <a:pPr algn="ctr">
              <a:defRPr sz="900" b="1">
                <a:solidFill>
                  <a:srgbClr val="A78BFA"/>
                </a:solidFill>
                <a:latin typeface="Aptos"/>
              </a:defRPr>
            </a:pPr>
            <a:r>
              <a:t>Deterministic edge identity</a:t>
            </a:r>
          </a:p>
        </p:txBody>
      </p:sp>
      <p:sp>
        <p:nvSpPr>
          <p:cNvPr id="14" name="TextBox 13"/>
          <p:cNvSpPr txBox="1"/>
          <p:nvPr/>
        </p:nvSpPr>
        <p:spPr>
          <a:xfrm>
            <a:off x="6382512" y="2103120"/>
            <a:ext cx="4983479" cy="1261872"/>
          </a:xfrm>
          <a:prstGeom prst="rect">
            <a:avLst/>
          </a:prstGeom>
          <a:noFill/>
        </p:spPr>
        <p:txBody>
          <a:bodyPr wrap="square" lIns="27432" rIns="27432" tIns="27432" bIns="27432" anchor="t">
            <a:spAutoFit/>
          </a:bodyPr>
          <a:lstStyle/>
          <a:p>
            <a:pPr algn="l">
              <a:defRPr sz="1100" b="0">
                <a:solidFill>
                  <a:srgbClr val="E7ECF5"/>
                </a:solidFill>
                <a:latin typeface="Cascadia Mono"/>
              </a:defRPr>
            </a:pPr>
            <a:r>
              <a:t>edge_id = F.sha2(F.concat_ws(</a:t>
            </a:r>
            <a:br/>
            <a:r>
              <a:t>    "|",</a:t>
            </a:r>
            <a:br/>
            <a:r>
              <a:t>    F.lit(edge_map["id"]),</a:t>
            </a:r>
            <a:br/>
            <a:r>
              <a:t>    source_row_id,</a:t>
            </a:r>
            <a:br/>
            <a:r>
              <a:t>    source_node_id,</a:t>
            </a:r>
            <a:br/>
            <a:r>
              <a:t>    target_node_id</a:t>
            </a:r>
            <a:br/>
            <a:r>
              <a:t>), 256)</a:t>
            </a:r>
          </a:p>
        </p:txBody>
      </p:sp>
      <p:sp>
        <p:nvSpPr>
          <p:cNvPr id="15" name="Rounded Rectangle 14"/>
          <p:cNvSpPr/>
          <p:nvPr/>
        </p:nvSpPr>
        <p:spPr>
          <a:xfrm>
            <a:off x="640080" y="3822191"/>
            <a:ext cx="5349240" cy="841248"/>
          </a:xfrm>
          <a:prstGeom prst="roundRect">
            <a:avLst/>
          </a:prstGeom>
          <a:solidFill>
            <a:srgbClr val="1B2741"/>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968496"/>
            <a:ext cx="1572768" cy="201168"/>
          </a:xfrm>
          <a:prstGeom prst="rect">
            <a:avLst/>
          </a:prstGeom>
          <a:noFill/>
        </p:spPr>
        <p:txBody>
          <a:bodyPr wrap="square" lIns="27432" rIns="27432" tIns="27432" bIns="27432" anchor="t">
            <a:spAutoFit/>
          </a:bodyPr>
          <a:lstStyle/>
          <a:p>
            <a:pPr algn="l">
              <a:defRPr sz="900" b="1">
                <a:solidFill>
                  <a:srgbClr val="7456EB"/>
                </a:solidFill>
                <a:latin typeface="Aptos"/>
              </a:defRPr>
            </a:pPr>
            <a:r>
              <a:t>GUID FORMAT</a:t>
            </a:r>
          </a:p>
        </p:txBody>
      </p:sp>
      <p:sp>
        <p:nvSpPr>
          <p:cNvPr id="17" name="TextBox 16"/>
          <p:cNvSpPr txBox="1"/>
          <p:nvPr/>
        </p:nvSpPr>
        <p:spPr>
          <a:xfrm>
            <a:off x="2286000" y="3950207"/>
            <a:ext cx="3429000" cy="384048"/>
          </a:xfrm>
          <a:prstGeom prst="rect">
            <a:avLst/>
          </a:prstGeom>
          <a:noFill/>
        </p:spPr>
        <p:txBody>
          <a:bodyPr wrap="square" lIns="27432" rIns="27432" tIns="27432" bIns="27432" anchor="t">
            <a:spAutoFit/>
          </a:bodyPr>
          <a:lstStyle/>
          <a:p>
            <a:pPr algn="l">
              <a:defRPr sz="1200" b="0">
                <a:solidFill>
                  <a:srgbClr val="E7ECF5"/>
                </a:solidFill>
                <a:latin typeface="Aptos"/>
              </a:defRPr>
            </a:pPr>
            <a:r>
              <a:t>Reject null or malformed source identifiers</a:t>
            </a:r>
          </a:p>
        </p:txBody>
      </p:sp>
      <p:sp>
        <p:nvSpPr>
          <p:cNvPr id="18" name="Rounded Rectangle 17"/>
          <p:cNvSpPr/>
          <p:nvPr/>
        </p:nvSpPr>
        <p:spPr>
          <a:xfrm>
            <a:off x="6199632" y="3822191"/>
            <a:ext cx="5349240" cy="841248"/>
          </a:xfrm>
          <a:prstGeom prst="roundRect">
            <a:avLst/>
          </a:prstGeom>
          <a:solidFill>
            <a:srgbClr val="1B2741"/>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3968496"/>
            <a:ext cx="1572768" cy="201168"/>
          </a:xfrm>
          <a:prstGeom prst="rect">
            <a:avLst/>
          </a:prstGeom>
          <a:noFill/>
        </p:spPr>
        <p:txBody>
          <a:bodyPr wrap="square" lIns="27432" rIns="27432" tIns="27432" bIns="27432" anchor="t">
            <a:spAutoFit/>
          </a:bodyPr>
          <a:lstStyle/>
          <a:p>
            <a:pPr algn="l">
              <a:defRPr sz="900" b="1">
                <a:solidFill>
                  <a:srgbClr val="1CBEB8"/>
                </a:solidFill>
                <a:latin typeface="Aptos"/>
              </a:defRPr>
            </a:pPr>
            <a:r>
              <a:t>UNIQUENESS</a:t>
            </a:r>
          </a:p>
        </p:txBody>
      </p:sp>
      <p:sp>
        <p:nvSpPr>
          <p:cNvPr id="20" name="TextBox 19"/>
          <p:cNvSpPr txBox="1"/>
          <p:nvPr/>
        </p:nvSpPr>
        <p:spPr>
          <a:xfrm>
            <a:off x="7845552" y="3950207"/>
            <a:ext cx="3429000" cy="384048"/>
          </a:xfrm>
          <a:prstGeom prst="rect">
            <a:avLst/>
          </a:prstGeom>
          <a:noFill/>
        </p:spPr>
        <p:txBody>
          <a:bodyPr wrap="square" lIns="27432" rIns="27432" tIns="27432" bIns="27432" anchor="t">
            <a:spAutoFit/>
          </a:bodyPr>
          <a:lstStyle/>
          <a:p>
            <a:pPr algn="l">
              <a:defRPr sz="1200" b="0">
                <a:solidFill>
                  <a:srgbClr val="E7ECF5"/>
                </a:solidFill>
                <a:latin typeface="Aptos"/>
              </a:defRPr>
            </a:pPr>
            <a:r>
              <a:t>Fail on duplicate node_id or edge_id</a:t>
            </a:r>
          </a:p>
        </p:txBody>
      </p:sp>
      <p:sp>
        <p:nvSpPr>
          <p:cNvPr id="21" name="Rounded Rectangle 20"/>
          <p:cNvSpPr/>
          <p:nvPr/>
        </p:nvSpPr>
        <p:spPr>
          <a:xfrm>
            <a:off x="640080" y="4873752"/>
            <a:ext cx="5349240" cy="841248"/>
          </a:xfrm>
          <a:prstGeom prst="roundRect">
            <a:avLst/>
          </a:prstGeom>
          <a:solidFill>
            <a:srgbClr val="1B2741"/>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5020056"/>
            <a:ext cx="1572768" cy="201168"/>
          </a:xfrm>
          <a:prstGeom prst="rect">
            <a:avLst/>
          </a:prstGeom>
          <a:noFill/>
        </p:spPr>
        <p:txBody>
          <a:bodyPr wrap="square" lIns="27432" rIns="27432" tIns="27432" bIns="27432" anchor="t">
            <a:spAutoFit/>
          </a:bodyPr>
          <a:lstStyle/>
          <a:p>
            <a:pPr algn="l">
              <a:defRPr sz="900" b="1">
                <a:solidFill>
                  <a:srgbClr val="F59E0B"/>
                </a:solidFill>
                <a:latin typeface="Aptos"/>
              </a:defRPr>
            </a:pPr>
            <a:r>
              <a:t>REFERENTIAL INTEGRITY</a:t>
            </a:r>
          </a:p>
        </p:txBody>
      </p:sp>
      <p:sp>
        <p:nvSpPr>
          <p:cNvPr id="23" name="TextBox 22"/>
          <p:cNvSpPr txBox="1"/>
          <p:nvPr/>
        </p:nvSpPr>
        <p:spPr>
          <a:xfrm>
            <a:off x="2286000" y="5001768"/>
            <a:ext cx="3429000" cy="384048"/>
          </a:xfrm>
          <a:prstGeom prst="rect">
            <a:avLst/>
          </a:prstGeom>
          <a:noFill/>
        </p:spPr>
        <p:txBody>
          <a:bodyPr wrap="square" lIns="27432" rIns="27432" tIns="27432" bIns="27432" anchor="t">
            <a:spAutoFit/>
          </a:bodyPr>
          <a:lstStyle/>
          <a:p>
            <a:pPr algn="l">
              <a:defRPr sz="1200" b="0">
                <a:solidFill>
                  <a:srgbClr val="E7ECF5"/>
                </a:solidFill>
                <a:latin typeface="Aptos"/>
              </a:defRPr>
            </a:pPr>
            <a:r>
              <a:t>Fail when an edge endpoint has no node</a:t>
            </a:r>
          </a:p>
        </p:txBody>
      </p:sp>
      <p:sp>
        <p:nvSpPr>
          <p:cNvPr id="24" name="Rounded Rectangle 23"/>
          <p:cNvSpPr/>
          <p:nvPr/>
        </p:nvSpPr>
        <p:spPr>
          <a:xfrm>
            <a:off x="6199632" y="4873752"/>
            <a:ext cx="5349240" cy="841248"/>
          </a:xfrm>
          <a:prstGeom prst="roundRect">
            <a:avLst/>
          </a:prstGeom>
          <a:solidFill>
            <a:srgbClr val="1B2741"/>
          </a:solidFill>
          <a:ln w="12700">
            <a:solidFill>
              <a:srgbClr val="2EA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82512" y="5020056"/>
            <a:ext cx="1572768" cy="201168"/>
          </a:xfrm>
          <a:prstGeom prst="rect">
            <a:avLst/>
          </a:prstGeom>
          <a:noFill/>
        </p:spPr>
        <p:txBody>
          <a:bodyPr wrap="square" lIns="27432" rIns="27432" tIns="27432" bIns="27432" anchor="t">
            <a:spAutoFit/>
          </a:bodyPr>
          <a:lstStyle/>
          <a:p>
            <a:pPr algn="l">
              <a:defRPr sz="900" b="1">
                <a:solidFill>
                  <a:srgbClr val="2EA44F"/>
                </a:solidFill>
                <a:latin typeface="Aptos"/>
              </a:defRPr>
            </a:pPr>
            <a:r>
              <a:t>SCOPE</a:t>
            </a:r>
          </a:p>
        </p:txBody>
      </p:sp>
      <p:sp>
        <p:nvSpPr>
          <p:cNvPr id="26" name="TextBox 25"/>
          <p:cNvSpPr txBox="1"/>
          <p:nvPr/>
        </p:nvSpPr>
        <p:spPr>
          <a:xfrm>
            <a:off x="7845552" y="5001768"/>
            <a:ext cx="3429000" cy="384048"/>
          </a:xfrm>
          <a:prstGeom prst="rect">
            <a:avLst/>
          </a:prstGeom>
          <a:noFill/>
        </p:spPr>
        <p:txBody>
          <a:bodyPr wrap="square" lIns="27432" rIns="27432" tIns="27432" bIns="27432" anchor="t">
            <a:spAutoFit/>
          </a:bodyPr>
          <a:lstStyle/>
          <a:p>
            <a:pPr algn="l">
              <a:defRPr sz="1200" b="0">
                <a:solidFill>
                  <a:srgbClr val="E7ECF5"/>
                </a:solidFill>
                <a:latin typeface="Aptos"/>
              </a:defRPr>
            </a:pPr>
            <a:r>
              <a:t>Apply filters and exclude out-of-scope relationships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CURATED LAKEHOUSE</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Two stable contracts + typed projections</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09</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640080" y="1600200"/>
            <a:ext cx="5303520" cy="4434840"/>
          </a:xfrm>
          <a:prstGeom prst="roundRect">
            <a:avLst/>
          </a:prstGeom>
          <a:solidFill>
            <a:srgbClr val="1B2741"/>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2103120" cy="365760"/>
          </a:xfrm>
          <a:prstGeom prst="rect">
            <a:avLst/>
          </a:prstGeom>
          <a:noFill/>
        </p:spPr>
        <p:txBody>
          <a:bodyPr wrap="square" lIns="27432" rIns="27432" tIns="27432" bIns="27432" anchor="t">
            <a:spAutoFit/>
          </a:bodyPr>
          <a:lstStyle/>
          <a:p>
            <a:pPr algn="l">
              <a:defRPr sz="2000" b="1">
                <a:solidFill>
                  <a:srgbClr val="A78BFA"/>
                </a:solidFill>
                <a:latin typeface="Cascadia Mono"/>
              </a:defRPr>
            </a:pPr>
            <a:r>
              <a:t>graph_nodes</a:t>
            </a:r>
          </a:p>
        </p:txBody>
      </p:sp>
      <p:sp>
        <p:nvSpPr>
          <p:cNvPr id="9" name="TextBox 8"/>
          <p:cNvSpPr txBox="1"/>
          <p:nvPr/>
        </p:nvSpPr>
        <p:spPr>
          <a:xfrm>
            <a:off x="914400" y="2514600"/>
            <a:ext cx="4434840" cy="2880360"/>
          </a:xfrm>
          <a:prstGeom prst="rect">
            <a:avLst/>
          </a:prstGeom>
          <a:noFill/>
        </p:spPr>
        <p:txBody>
          <a:bodyPr wrap="square" lIns="27432" rIns="27432" tIns="27432" bIns="27432" anchor="t">
            <a:spAutoFit/>
          </a:bodyPr>
          <a:lstStyle/>
          <a:p>
            <a:pPr algn="l">
              <a:defRPr sz="1100" b="0">
                <a:solidFill>
                  <a:srgbClr val="E7ECF5"/>
                </a:solidFill>
                <a:latin typeface="Cascadia Mono"/>
              </a:defRPr>
            </a:pPr>
            <a:r>
              <a:t>node_id            STRING  PK</a:t>
            </a:r>
            <a:br/>
            <a:r>
              <a:t>node_type          STRING</a:t>
            </a:r>
            <a:br/>
            <a:r>
              <a:t>label              STRING</a:t>
            </a:r>
            <a:br/>
            <a:r>
              <a:t>business_key       STRING</a:t>
            </a:r>
            <a:br/>
            <a:r>
              <a:t>properties_json    STRING</a:t>
            </a:r>
            <a:br/>
            <a:r>
              <a:t>source_record_id   STRING</a:t>
            </a:r>
            <a:br/>
            <a:r>
              <a:t>source_modified_at TIMESTAMP</a:t>
            </a:r>
            <a:br/>
            <a:r>
              <a:t>mapping_version    STRING</a:t>
            </a:r>
            <a:br/>
            <a:r>
              <a:t>run_id             STRING</a:t>
            </a:r>
          </a:p>
        </p:txBody>
      </p:sp>
      <p:sp>
        <p:nvSpPr>
          <p:cNvPr id="10" name="Rounded Rectangle 9"/>
          <p:cNvSpPr/>
          <p:nvPr/>
        </p:nvSpPr>
        <p:spPr>
          <a:xfrm>
            <a:off x="6236208" y="1600200"/>
            <a:ext cx="5303520" cy="4434840"/>
          </a:xfrm>
          <a:prstGeom prst="roundRect">
            <a:avLst/>
          </a:prstGeom>
          <a:solidFill>
            <a:srgbClr val="1B2741"/>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1874519"/>
            <a:ext cx="2103120" cy="365760"/>
          </a:xfrm>
          <a:prstGeom prst="rect">
            <a:avLst/>
          </a:prstGeom>
          <a:noFill/>
        </p:spPr>
        <p:txBody>
          <a:bodyPr wrap="square" lIns="27432" rIns="27432" tIns="27432" bIns="27432" anchor="t">
            <a:spAutoFit/>
          </a:bodyPr>
          <a:lstStyle/>
          <a:p>
            <a:pPr algn="l">
              <a:defRPr sz="2000" b="1">
                <a:solidFill>
                  <a:srgbClr val="1CBEB8"/>
                </a:solidFill>
                <a:latin typeface="Cascadia Mono"/>
              </a:defRPr>
            </a:pPr>
            <a:r>
              <a:t>graph_edges</a:t>
            </a:r>
          </a:p>
        </p:txBody>
      </p:sp>
      <p:sp>
        <p:nvSpPr>
          <p:cNvPr id="12" name="TextBox 11"/>
          <p:cNvSpPr txBox="1"/>
          <p:nvPr/>
        </p:nvSpPr>
        <p:spPr>
          <a:xfrm>
            <a:off x="6510528" y="2514600"/>
            <a:ext cx="4434840" cy="2880360"/>
          </a:xfrm>
          <a:prstGeom prst="rect">
            <a:avLst/>
          </a:prstGeom>
          <a:noFill/>
        </p:spPr>
        <p:txBody>
          <a:bodyPr wrap="square" lIns="27432" rIns="27432" tIns="27432" bIns="27432" anchor="t">
            <a:spAutoFit/>
          </a:bodyPr>
          <a:lstStyle/>
          <a:p>
            <a:pPr algn="l">
              <a:defRPr sz="1100" b="0">
                <a:solidFill>
                  <a:srgbClr val="E7ECF5"/>
                </a:solidFill>
                <a:latin typeface="Cascadia Mono"/>
              </a:defRPr>
            </a:pPr>
            <a:r>
              <a:t>edge_id            STRING  PK</a:t>
            </a:r>
            <a:br/>
            <a:r>
              <a:t>source_node_id     STRING  FK</a:t>
            </a:r>
            <a:br/>
            <a:r>
              <a:t>target_node_id     STRING  FK</a:t>
            </a:r>
            <a:br/>
            <a:r>
              <a:t>relationship_type  STRING</a:t>
            </a:r>
            <a:br/>
            <a:r>
              <a:t>source_table       STRING</a:t>
            </a:r>
            <a:br/>
            <a:r>
              <a:t>source_record_id   STRING</a:t>
            </a:r>
            <a:br/>
            <a:r>
              <a:t>properties_json    STRING</a:t>
            </a:r>
            <a:br/>
            <a:r>
              <a:t>source_modified_at TIMESTAMP</a:t>
            </a:r>
            <a:br/>
            <a:r>
              <a:t>run_id             STRING</a:t>
            </a:r>
          </a:p>
        </p:txBody>
      </p:sp>
      <p:sp>
        <p:nvSpPr>
          <p:cNvPr id="13" name="Rounded Rectangle 12"/>
          <p:cNvSpPr/>
          <p:nvPr/>
        </p:nvSpPr>
        <p:spPr>
          <a:xfrm>
            <a:off x="3474720" y="5650992"/>
            <a:ext cx="2148840" cy="292608"/>
          </a:xfrm>
          <a:prstGeom prst="roundRect">
            <a:avLst/>
          </a:prstGeom>
          <a:solidFill>
            <a:srgbClr val="7456EB"/>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5660136"/>
            <a:ext cx="2148840" cy="256032"/>
          </a:xfrm>
          <a:prstGeom prst="rect">
            <a:avLst/>
          </a:prstGeom>
          <a:noFill/>
        </p:spPr>
        <p:txBody>
          <a:bodyPr wrap="square" lIns="27432" rIns="27432" tIns="27432" bIns="27432" anchor="ctr">
            <a:spAutoFit/>
          </a:bodyPr>
          <a:lstStyle/>
          <a:p>
            <a:pPr algn="ctr">
              <a:defRPr sz="1100" b="1">
                <a:solidFill>
                  <a:srgbClr val="F6F8FC"/>
                </a:solidFill>
                <a:latin typeface="Aptos"/>
              </a:defRPr>
            </a:pPr>
            <a:r>
              <a:t>7 graph_node_* tables</a:t>
            </a:r>
          </a:p>
        </p:txBody>
      </p:sp>
      <p:sp>
        <p:nvSpPr>
          <p:cNvPr id="15" name="Rounded Rectangle 14"/>
          <p:cNvSpPr/>
          <p:nvPr/>
        </p:nvSpPr>
        <p:spPr>
          <a:xfrm>
            <a:off x="6556248" y="5650992"/>
            <a:ext cx="2148840" cy="292608"/>
          </a:xfrm>
          <a:prstGeom prst="roundRect">
            <a:avLst/>
          </a:prstGeom>
          <a:solidFill>
            <a:srgbClr val="1CBEB8"/>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56248" y="5660136"/>
            <a:ext cx="2148840" cy="256032"/>
          </a:xfrm>
          <a:prstGeom prst="rect">
            <a:avLst/>
          </a:prstGeom>
          <a:noFill/>
        </p:spPr>
        <p:txBody>
          <a:bodyPr wrap="square" lIns="27432" rIns="27432" tIns="27432" bIns="27432" anchor="ctr">
            <a:spAutoFit/>
          </a:bodyPr>
          <a:lstStyle/>
          <a:p>
            <a:pPr algn="ctr">
              <a:defRPr sz="1100" b="1">
                <a:solidFill>
                  <a:srgbClr val="F6F8FC"/>
                </a:solidFill>
                <a:latin typeface="Aptos"/>
              </a:defRPr>
            </a:pPr>
            <a:r>
              <a:t>7 graph_edge_* tables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VISUAL GRAPH</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Fabric turns the curated tables into a native property graph</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10</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cxnSp>
        <p:nvCxnSpPr>
          <p:cNvPr id="7" name="Connector 6"/>
          <p:cNvCxnSpPr/>
          <p:nvPr/>
        </p:nvCxnSpPr>
        <p:spPr>
          <a:xfrm flipV="1">
            <a:off x="822960" y="2240280"/>
            <a:ext cx="777240" cy="1371600"/>
          </a:xfrm>
          <a:prstGeom prst="line">
            <a:avLst/>
          </a:prstGeom>
          <a:ln w="21590">
            <a:solidFill>
              <a:srgbClr val="3A486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28700" y="2697480"/>
            <a:ext cx="1005840" cy="164592"/>
          </a:xfrm>
          <a:prstGeom prst="rect">
            <a:avLst/>
          </a:prstGeom>
          <a:noFill/>
        </p:spPr>
        <p:txBody>
          <a:bodyPr wrap="square" lIns="27432" rIns="27432" tIns="27432" bIns="27432" anchor="t">
            <a:spAutoFit/>
          </a:bodyPr>
          <a:lstStyle/>
          <a:p>
            <a:pPr algn="ctr">
              <a:defRPr sz="650" b="1">
                <a:solidFill>
                  <a:srgbClr val="AAB6CC"/>
                </a:solidFill>
                <a:latin typeface="Aptos"/>
              </a:defRPr>
            </a:pPr>
            <a:r>
              <a:t>BELONGS_TO</a:t>
            </a:r>
          </a:p>
        </p:txBody>
      </p:sp>
      <p:cxnSp>
        <p:nvCxnSpPr>
          <p:cNvPr id="9" name="Connector 8"/>
          <p:cNvCxnSpPr/>
          <p:nvPr/>
        </p:nvCxnSpPr>
        <p:spPr>
          <a:xfrm>
            <a:off x="1600200" y="2240280"/>
            <a:ext cx="2057400" cy="0"/>
          </a:xfrm>
          <a:prstGeom prst="line">
            <a:avLst/>
          </a:prstGeom>
          <a:ln w="21590">
            <a:solidFill>
              <a:srgbClr val="3A486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446020" y="2011680"/>
            <a:ext cx="1005840" cy="164592"/>
          </a:xfrm>
          <a:prstGeom prst="rect">
            <a:avLst/>
          </a:prstGeom>
          <a:noFill/>
        </p:spPr>
        <p:txBody>
          <a:bodyPr wrap="square" lIns="27432" rIns="27432" tIns="27432" bIns="27432" anchor="t">
            <a:spAutoFit/>
          </a:bodyPr>
          <a:lstStyle/>
          <a:p>
            <a:pPr algn="ctr">
              <a:defRPr sz="650" b="1">
                <a:solidFill>
                  <a:srgbClr val="AAB6CC"/>
                </a:solidFill>
                <a:latin typeface="Aptos"/>
              </a:defRPr>
            </a:pPr>
            <a:r>
              <a:t>PLACED</a:t>
            </a:r>
          </a:p>
        </p:txBody>
      </p:sp>
      <p:cxnSp>
        <p:nvCxnSpPr>
          <p:cNvPr id="11" name="Connector 10"/>
          <p:cNvCxnSpPr/>
          <p:nvPr/>
        </p:nvCxnSpPr>
        <p:spPr>
          <a:xfrm flipV="1">
            <a:off x="3657600" y="1691639"/>
            <a:ext cx="1920240" cy="548641"/>
          </a:xfrm>
          <a:prstGeom prst="line">
            <a:avLst/>
          </a:prstGeom>
          <a:ln w="21590">
            <a:solidFill>
              <a:srgbClr val="3A486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34840" y="1737360"/>
            <a:ext cx="1005840" cy="164592"/>
          </a:xfrm>
          <a:prstGeom prst="rect">
            <a:avLst/>
          </a:prstGeom>
          <a:noFill/>
        </p:spPr>
        <p:txBody>
          <a:bodyPr wrap="square" lIns="27432" rIns="27432" tIns="27432" bIns="27432" anchor="t">
            <a:spAutoFit/>
          </a:bodyPr>
          <a:lstStyle/>
          <a:p>
            <a:pPr algn="ctr">
              <a:defRPr sz="650" b="1">
                <a:solidFill>
                  <a:srgbClr val="AAB6CC"/>
                </a:solidFill>
                <a:latin typeface="Aptos"/>
              </a:defRPr>
            </a:pPr>
            <a:r>
              <a:t>CONTAINS</a:t>
            </a:r>
          </a:p>
        </p:txBody>
      </p:sp>
      <p:cxnSp>
        <p:nvCxnSpPr>
          <p:cNvPr id="13" name="Connector 12"/>
          <p:cNvCxnSpPr/>
          <p:nvPr/>
        </p:nvCxnSpPr>
        <p:spPr>
          <a:xfrm>
            <a:off x="3657600" y="2240280"/>
            <a:ext cx="1920240" cy="548640"/>
          </a:xfrm>
          <a:prstGeom prst="line">
            <a:avLst/>
          </a:prstGeom>
          <a:ln w="21590">
            <a:solidFill>
              <a:srgbClr val="3A486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34840" y="2286000"/>
            <a:ext cx="1005840" cy="164592"/>
          </a:xfrm>
          <a:prstGeom prst="rect">
            <a:avLst/>
          </a:prstGeom>
          <a:noFill/>
        </p:spPr>
        <p:txBody>
          <a:bodyPr wrap="square" lIns="27432" rIns="27432" tIns="27432" bIns="27432" anchor="t">
            <a:spAutoFit/>
          </a:bodyPr>
          <a:lstStyle/>
          <a:p>
            <a:pPr algn="ctr">
              <a:defRPr sz="650" b="1">
                <a:solidFill>
                  <a:srgbClr val="AAB6CC"/>
                </a:solidFill>
                <a:latin typeface="Aptos"/>
              </a:defRPr>
            </a:pPr>
            <a:r>
              <a:t>CONTAINS</a:t>
            </a:r>
          </a:p>
        </p:txBody>
      </p:sp>
      <p:cxnSp>
        <p:nvCxnSpPr>
          <p:cNvPr id="15" name="Connector 14"/>
          <p:cNvCxnSpPr/>
          <p:nvPr/>
        </p:nvCxnSpPr>
        <p:spPr>
          <a:xfrm>
            <a:off x="5577840" y="1691639"/>
            <a:ext cx="2148839" cy="0"/>
          </a:xfrm>
          <a:prstGeom prst="line">
            <a:avLst/>
          </a:prstGeom>
          <a:ln w="21590">
            <a:solidFill>
              <a:srgbClr val="3A486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69380" y="1463039"/>
            <a:ext cx="1005840" cy="164592"/>
          </a:xfrm>
          <a:prstGeom prst="rect">
            <a:avLst/>
          </a:prstGeom>
          <a:noFill/>
        </p:spPr>
        <p:txBody>
          <a:bodyPr wrap="square" lIns="27432" rIns="27432" tIns="27432" bIns="27432" anchor="t">
            <a:spAutoFit/>
          </a:bodyPr>
          <a:lstStyle/>
          <a:p>
            <a:pPr algn="ctr">
              <a:defRPr sz="650" b="1">
                <a:solidFill>
                  <a:srgbClr val="AAB6CC"/>
                </a:solidFill>
                <a:latin typeface="Aptos"/>
              </a:defRPr>
            </a:pPr>
            <a:r>
              <a:t>REFERENCES</a:t>
            </a:r>
          </a:p>
        </p:txBody>
      </p:sp>
      <p:cxnSp>
        <p:nvCxnSpPr>
          <p:cNvPr id="17" name="Connector 16"/>
          <p:cNvCxnSpPr/>
          <p:nvPr/>
        </p:nvCxnSpPr>
        <p:spPr>
          <a:xfrm>
            <a:off x="5577840" y="2788920"/>
            <a:ext cx="2148839" cy="0"/>
          </a:xfrm>
          <a:prstGeom prst="line">
            <a:avLst/>
          </a:prstGeom>
          <a:ln w="21590">
            <a:solidFill>
              <a:srgbClr val="3A486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9380" y="2560320"/>
            <a:ext cx="1005840" cy="164592"/>
          </a:xfrm>
          <a:prstGeom prst="rect">
            <a:avLst/>
          </a:prstGeom>
          <a:noFill/>
        </p:spPr>
        <p:txBody>
          <a:bodyPr wrap="square" lIns="27432" rIns="27432" tIns="27432" bIns="27432" anchor="t">
            <a:spAutoFit/>
          </a:bodyPr>
          <a:lstStyle/>
          <a:p>
            <a:pPr algn="ctr">
              <a:defRPr sz="650" b="1">
                <a:solidFill>
                  <a:srgbClr val="AAB6CC"/>
                </a:solidFill>
                <a:latin typeface="Aptos"/>
              </a:defRPr>
            </a:pPr>
            <a:r>
              <a:t>REFERENCES</a:t>
            </a:r>
          </a:p>
        </p:txBody>
      </p:sp>
      <p:cxnSp>
        <p:nvCxnSpPr>
          <p:cNvPr id="19" name="Connector 18"/>
          <p:cNvCxnSpPr/>
          <p:nvPr/>
        </p:nvCxnSpPr>
        <p:spPr>
          <a:xfrm>
            <a:off x="3657600" y="2240280"/>
            <a:ext cx="0" cy="2286000"/>
          </a:xfrm>
          <a:prstGeom prst="line">
            <a:avLst/>
          </a:prstGeom>
          <a:ln w="21590">
            <a:solidFill>
              <a:srgbClr val="3A486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474720" y="3154680"/>
            <a:ext cx="1005840" cy="164592"/>
          </a:xfrm>
          <a:prstGeom prst="rect">
            <a:avLst/>
          </a:prstGeom>
          <a:noFill/>
        </p:spPr>
        <p:txBody>
          <a:bodyPr wrap="square" lIns="27432" rIns="27432" tIns="27432" bIns="27432" anchor="t">
            <a:spAutoFit/>
          </a:bodyPr>
          <a:lstStyle/>
          <a:p>
            <a:pPr algn="ctr">
              <a:defRPr sz="650" b="1">
                <a:solidFill>
                  <a:srgbClr val="AAB6CC"/>
                </a:solidFill>
                <a:latin typeface="Aptos"/>
              </a:defRPr>
            </a:pPr>
            <a:r>
              <a:t>GENERATED</a:t>
            </a:r>
          </a:p>
        </p:txBody>
      </p:sp>
      <p:cxnSp>
        <p:nvCxnSpPr>
          <p:cNvPr id="21" name="Connector 20"/>
          <p:cNvCxnSpPr/>
          <p:nvPr/>
        </p:nvCxnSpPr>
        <p:spPr>
          <a:xfrm>
            <a:off x="1600200" y="2240280"/>
            <a:ext cx="0" cy="2971800"/>
          </a:xfrm>
          <a:prstGeom prst="line">
            <a:avLst/>
          </a:prstGeom>
          <a:ln w="21590">
            <a:solidFill>
              <a:srgbClr val="3A486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417320" y="3497580"/>
            <a:ext cx="1005840" cy="164592"/>
          </a:xfrm>
          <a:prstGeom prst="rect">
            <a:avLst/>
          </a:prstGeom>
          <a:noFill/>
        </p:spPr>
        <p:txBody>
          <a:bodyPr wrap="square" lIns="27432" rIns="27432" tIns="27432" bIns="27432" anchor="t">
            <a:spAutoFit/>
          </a:bodyPr>
          <a:lstStyle/>
          <a:p>
            <a:pPr algn="ctr">
              <a:defRPr sz="650" b="1">
                <a:solidFill>
                  <a:srgbClr val="AAB6CC"/>
                </a:solidFill>
                <a:latin typeface="Aptos"/>
              </a:defRPr>
            </a:pPr>
            <a:r>
              <a:t>OPENED</a:t>
            </a:r>
          </a:p>
        </p:txBody>
      </p:sp>
      <p:cxnSp>
        <p:nvCxnSpPr>
          <p:cNvPr id="23" name="Connector 22"/>
          <p:cNvCxnSpPr/>
          <p:nvPr/>
        </p:nvCxnSpPr>
        <p:spPr>
          <a:xfrm>
            <a:off x="822960" y="3611880"/>
            <a:ext cx="777240" cy="1600200"/>
          </a:xfrm>
          <a:prstGeom prst="line">
            <a:avLst/>
          </a:prstGeom>
          <a:ln w="21590">
            <a:solidFill>
              <a:srgbClr val="3A486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28700" y="4183380"/>
            <a:ext cx="1005840" cy="164592"/>
          </a:xfrm>
          <a:prstGeom prst="rect">
            <a:avLst/>
          </a:prstGeom>
          <a:noFill/>
        </p:spPr>
        <p:txBody>
          <a:bodyPr wrap="square" lIns="27432" rIns="27432" tIns="27432" bIns="27432" anchor="t">
            <a:spAutoFit/>
          </a:bodyPr>
          <a:lstStyle/>
          <a:p>
            <a:pPr algn="ctr">
              <a:defRPr sz="650" b="1">
                <a:solidFill>
                  <a:srgbClr val="AAB6CC"/>
                </a:solidFill>
                <a:latin typeface="Aptos"/>
              </a:defRPr>
            </a:pPr>
            <a:r>
              <a:t>REPORTED</a:t>
            </a:r>
          </a:p>
        </p:txBody>
      </p:sp>
      <p:sp>
        <p:nvSpPr>
          <p:cNvPr id="25" name="Oval 24"/>
          <p:cNvSpPr/>
          <p:nvPr/>
        </p:nvSpPr>
        <p:spPr>
          <a:xfrm>
            <a:off x="1188720" y="1828800"/>
            <a:ext cx="822960" cy="822960"/>
          </a:xfrm>
          <a:prstGeom prst="ellipse">
            <a:avLst/>
          </a:prstGeom>
          <a:solidFill>
            <a:srgbClr val="7456EB"/>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2084832"/>
            <a:ext cx="1097280" cy="201168"/>
          </a:xfrm>
          <a:prstGeom prst="rect">
            <a:avLst/>
          </a:prstGeom>
          <a:noFill/>
        </p:spPr>
        <p:txBody>
          <a:bodyPr wrap="square" lIns="27432" rIns="27432" tIns="27432" bIns="27432" anchor="t">
            <a:spAutoFit/>
          </a:bodyPr>
          <a:lstStyle/>
          <a:p>
            <a:pPr algn="ctr">
              <a:defRPr sz="800" b="1">
                <a:solidFill>
                  <a:srgbClr val="F6F8FC"/>
                </a:solidFill>
                <a:latin typeface="Aptos"/>
              </a:defRPr>
            </a:pPr>
            <a:r>
              <a:t>Contoso</a:t>
            </a:r>
          </a:p>
        </p:txBody>
      </p:sp>
      <p:sp>
        <p:nvSpPr>
          <p:cNvPr id="27" name="Oval 26"/>
          <p:cNvSpPr/>
          <p:nvPr/>
        </p:nvSpPr>
        <p:spPr>
          <a:xfrm>
            <a:off x="411480" y="3200400"/>
            <a:ext cx="822960" cy="822960"/>
          </a:xfrm>
          <a:prstGeom prst="ellipse">
            <a:avLst/>
          </a:prstGeom>
          <a:solidFill>
            <a:srgbClr val="A78BFA"/>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3456432"/>
            <a:ext cx="1097280" cy="201168"/>
          </a:xfrm>
          <a:prstGeom prst="rect">
            <a:avLst/>
          </a:prstGeom>
          <a:noFill/>
        </p:spPr>
        <p:txBody>
          <a:bodyPr wrap="square" lIns="27432" rIns="27432" tIns="27432" bIns="27432" anchor="t">
            <a:spAutoFit/>
          </a:bodyPr>
          <a:lstStyle/>
          <a:p>
            <a:pPr algn="ctr">
              <a:defRPr sz="800" b="1">
                <a:solidFill>
                  <a:srgbClr val="F6F8FC"/>
                </a:solidFill>
                <a:latin typeface="Aptos"/>
              </a:defRPr>
            </a:pPr>
            <a:r>
              <a:t>Maya</a:t>
            </a:r>
          </a:p>
        </p:txBody>
      </p:sp>
      <p:sp>
        <p:nvSpPr>
          <p:cNvPr id="29" name="Oval 28"/>
          <p:cNvSpPr/>
          <p:nvPr/>
        </p:nvSpPr>
        <p:spPr>
          <a:xfrm>
            <a:off x="3246120" y="1828800"/>
            <a:ext cx="822960" cy="822960"/>
          </a:xfrm>
          <a:prstGeom prst="ellipse">
            <a:avLst/>
          </a:prstGeom>
          <a:solidFill>
            <a:srgbClr val="3584E4"/>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08960" y="2084832"/>
            <a:ext cx="1097280" cy="201168"/>
          </a:xfrm>
          <a:prstGeom prst="rect">
            <a:avLst/>
          </a:prstGeom>
          <a:noFill/>
        </p:spPr>
        <p:txBody>
          <a:bodyPr wrap="square" lIns="27432" rIns="27432" tIns="27432" bIns="27432" anchor="t">
            <a:spAutoFit/>
          </a:bodyPr>
          <a:lstStyle/>
          <a:p>
            <a:pPr algn="ctr">
              <a:defRPr sz="800" b="1">
                <a:solidFill>
                  <a:srgbClr val="F6F8FC"/>
                </a:solidFill>
                <a:latin typeface="Aptos"/>
              </a:defRPr>
            </a:pPr>
            <a:r>
              <a:t>SO-1001</a:t>
            </a:r>
          </a:p>
        </p:txBody>
      </p:sp>
      <p:sp>
        <p:nvSpPr>
          <p:cNvPr id="31" name="Oval 30"/>
          <p:cNvSpPr/>
          <p:nvPr/>
        </p:nvSpPr>
        <p:spPr>
          <a:xfrm>
            <a:off x="5166360" y="1280160"/>
            <a:ext cx="822960" cy="822960"/>
          </a:xfrm>
          <a:prstGeom prst="ellipse">
            <a:avLst/>
          </a:prstGeom>
          <a:solidFill>
            <a:srgbClr val="1CBEB8"/>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0" y="1536192"/>
            <a:ext cx="1097280" cy="201168"/>
          </a:xfrm>
          <a:prstGeom prst="rect">
            <a:avLst/>
          </a:prstGeom>
          <a:noFill/>
        </p:spPr>
        <p:txBody>
          <a:bodyPr wrap="square" lIns="27432" rIns="27432" tIns="27432" bIns="27432" anchor="t">
            <a:spAutoFit/>
          </a:bodyPr>
          <a:lstStyle/>
          <a:p>
            <a:pPr algn="ctr">
              <a:defRPr sz="800" b="1">
                <a:solidFill>
                  <a:srgbClr val="F6F8FC"/>
                </a:solidFill>
                <a:latin typeface="Aptos"/>
              </a:defRPr>
            </a:pPr>
            <a:r>
              <a:t>Line 1</a:t>
            </a:r>
          </a:p>
        </p:txBody>
      </p:sp>
      <p:sp>
        <p:nvSpPr>
          <p:cNvPr id="33" name="Oval 32"/>
          <p:cNvSpPr/>
          <p:nvPr/>
        </p:nvSpPr>
        <p:spPr>
          <a:xfrm>
            <a:off x="5166360" y="2377440"/>
            <a:ext cx="822960" cy="822960"/>
          </a:xfrm>
          <a:prstGeom prst="ellipse">
            <a:avLst/>
          </a:prstGeom>
          <a:solidFill>
            <a:srgbClr val="1CBEB8"/>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0" y="2633472"/>
            <a:ext cx="1097280" cy="201168"/>
          </a:xfrm>
          <a:prstGeom prst="rect">
            <a:avLst/>
          </a:prstGeom>
          <a:noFill/>
        </p:spPr>
        <p:txBody>
          <a:bodyPr wrap="square" lIns="27432" rIns="27432" tIns="27432" bIns="27432" anchor="t">
            <a:spAutoFit/>
          </a:bodyPr>
          <a:lstStyle/>
          <a:p>
            <a:pPr algn="ctr">
              <a:defRPr sz="800" b="1">
                <a:solidFill>
                  <a:srgbClr val="F6F8FC"/>
                </a:solidFill>
                <a:latin typeface="Aptos"/>
              </a:defRPr>
            </a:pPr>
            <a:r>
              <a:t>Line 2</a:t>
            </a:r>
          </a:p>
        </p:txBody>
      </p:sp>
      <p:sp>
        <p:nvSpPr>
          <p:cNvPr id="35" name="Oval 34"/>
          <p:cNvSpPr/>
          <p:nvPr/>
        </p:nvSpPr>
        <p:spPr>
          <a:xfrm>
            <a:off x="7315200" y="1280160"/>
            <a:ext cx="822960" cy="822960"/>
          </a:xfrm>
          <a:prstGeom prst="ellipse">
            <a:avLst/>
          </a:prstGeom>
          <a:solidFill>
            <a:srgbClr val="2EA44F"/>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78040" y="1536192"/>
            <a:ext cx="1097280" cy="201168"/>
          </a:xfrm>
          <a:prstGeom prst="rect">
            <a:avLst/>
          </a:prstGeom>
          <a:noFill/>
        </p:spPr>
        <p:txBody>
          <a:bodyPr wrap="square" lIns="27432" rIns="27432" tIns="27432" bIns="27432" anchor="t">
            <a:spAutoFit/>
          </a:bodyPr>
          <a:lstStyle/>
          <a:p>
            <a:pPr algn="ctr">
              <a:defRPr sz="800" b="1">
                <a:solidFill>
                  <a:srgbClr val="F6F8FC"/>
                </a:solidFill>
                <a:latin typeface="Aptos"/>
              </a:defRPr>
            </a:pPr>
            <a:r>
              <a:t>Civic</a:t>
            </a:r>
          </a:p>
        </p:txBody>
      </p:sp>
      <p:sp>
        <p:nvSpPr>
          <p:cNvPr id="37" name="Oval 36"/>
          <p:cNvSpPr/>
          <p:nvPr/>
        </p:nvSpPr>
        <p:spPr>
          <a:xfrm>
            <a:off x="7315200" y="2377440"/>
            <a:ext cx="822960" cy="822960"/>
          </a:xfrm>
          <a:prstGeom prst="ellipse">
            <a:avLst/>
          </a:prstGeom>
          <a:solidFill>
            <a:srgbClr val="2EA44F"/>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78040" y="2633472"/>
            <a:ext cx="1097280" cy="201168"/>
          </a:xfrm>
          <a:prstGeom prst="rect">
            <a:avLst/>
          </a:prstGeom>
          <a:noFill/>
        </p:spPr>
        <p:txBody>
          <a:bodyPr wrap="square" lIns="27432" rIns="27432" tIns="27432" bIns="27432" anchor="t">
            <a:spAutoFit/>
          </a:bodyPr>
          <a:lstStyle/>
          <a:p>
            <a:pPr algn="ctr">
              <a:defRPr sz="800" b="1">
                <a:solidFill>
                  <a:srgbClr val="F6F8FC"/>
                </a:solidFill>
                <a:latin typeface="Aptos"/>
              </a:defRPr>
            </a:pPr>
            <a:r>
              <a:t>Safety</a:t>
            </a:r>
          </a:p>
        </p:txBody>
      </p:sp>
      <p:sp>
        <p:nvSpPr>
          <p:cNvPr id="39" name="Oval 38"/>
          <p:cNvSpPr/>
          <p:nvPr/>
        </p:nvSpPr>
        <p:spPr>
          <a:xfrm>
            <a:off x="3246120" y="4114800"/>
            <a:ext cx="822960" cy="822960"/>
          </a:xfrm>
          <a:prstGeom prst="ellipse">
            <a:avLst/>
          </a:prstGeom>
          <a:solidFill>
            <a:srgbClr val="F59E0B"/>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08960" y="4370832"/>
            <a:ext cx="1097280" cy="201168"/>
          </a:xfrm>
          <a:prstGeom prst="rect">
            <a:avLst/>
          </a:prstGeom>
          <a:noFill/>
        </p:spPr>
        <p:txBody>
          <a:bodyPr wrap="square" lIns="27432" rIns="27432" tIns="27432" bIns="27432" anchor="t">
            <a:spAutoFit/>
          </a:bodyPr>
          <a:lstStyle/>
          <a:p>
            <a:pPr algn="ctr">
              <a:defRPr sz="800" b="1">
                <a:solidFill>
                  <a:srgbClr val="F6F8FC"/>
                </a:solidFill>
                <a:latin typeface="Aptos"/>
              </a:defRPr>
            </a:pPr>
            <a:r>
              <a:t>INV-9001</a:t>
            </a:r>
          </a:p>
        </p:txBody>
      </p:sp>
      <p:sp>
        <p:nvSpPr>
          <p:cNvPr id="41" name="Oval 40"/>
          <p:cNvSpPr/>
          <p:nvPr/>
        </p:nvSpPr>
        <p:spPr>
          <a:xfrm>
            <a:off x="1188720" y="4800600"/>
            <a:ext cx="822960" cy="822960"/>
          </a:xfrm>
          <a:prstGeom prst="ellipse">
            <a:avLst/>
          </a:prstGeom>
          <a:solidFill>
            <a:srgbClr val="DC4B4B"/>
          </a:solidFill>
          <a:ln w="1905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056632"/>
            <a:ext cx="1097280" cy="201168"/>
          </a:xfrm>
          <a:prstGeom prst="rect">
            <a:avLst/>
          </a:prstGeom>
          <a:noFill/>
        </p:spPr>
        <p:txBody>
          <a:bodyPr wrap="square" lIns="27432" rIns="27432" tIns="27432" bIns="27432" anchor="t">
            <a:spAutoFit/>
          </a:bodyPr>
          <a:lstStyle/>
          <a:p>
            <a:pPr algn="ctr">
              <a:defRPr sz="800" b="1">
                <a:solidFill>
                  <a:srgbClr val="F6F8FC"/>
                </a:solidFill>
                <a:latin typeface="Aptos"/>
              </a:defRPr>
            </a:pPr>
            <a:r>
              <a:t>Case 7001</a:t>
            </a:r>
          </a:p>
        </p:txBody>
      </p:sp>
      <p:sp>
        <p:nvSpPr>
          <p:cNvPr id="43" name="Rounded Rectangle 42"/>
          <p:cNvSpPr/>
          <p:nvPr/>
        </p:nvSpPr>
        <p:spPr>
          <a:xfrm>
            <a:off x="8732520" y="1572768"/>
            <a:ext cx="2697480" cy="4526280"/>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06840" y="1847088"/>
            <a:ext cx="2194560" cy="274320"/>
          </a:xfrm>
          <a:prstGeom prst="rect">
            <a:avLst/>
          </a:prstGeom>
          <a:noFill/>
        </p:spPr>
        <p:txBody>
          <a:bodyPr wrap="square" lIns="27432" rIns="27432" tIns="27432" bIns="27432" anchor="t">
            <a:spAutoFit/>
          </a:bodyPr>
          <a:lstStyle/>
          <a:p>
            <a:pPr algn="l">
              <a:defRPr sz="1600" b="1">
                <a:solidFill>
                  <a:srgbClr val="F6F8FC"/>
                </a:solidFill>
                <a:latin typeface="Aptos"/>
              </a:defRPr>
            </a:pPr>
            <a:r>
              <a:t>Live graph model</a:t>
            </a:r>
          </a:p>
        </p:txBody>
      </p:sp>
      <p:sp>
        <p:nvSpPr>
          <p:cNvPr id="45" name="TextBox 44"/>
          <p:cNvSpPr txBox="1"/>
          <p:nvPr/>
        </p:nvSpPr>
        <p:spPr>
          <a:xfrm>
            <a:off x="9006840" y="2240280"/>
            <a:ext cx="2194560" cy="274320"/>
          </a:xfrm>
          <a:prstGeom prst="rect">
            <a:avLst/>
          </a:prstGeom>
          <a:noFill/>
        </p:spPr>
        <p:txBody>
          <a:bodyPr wrap="square" lIns="27432" rIns="27432" tIns="27432" bIns="27432" anchor="t">
            <a:spAutoFit/>
          </a:bodyPr>
          <a:lstStyle/>
          <a:p>
            <a:pPr algn="l">
              <a:defRPr sz="1100" b="1">
                <a:solidFill>
                  <a:srgbClr val="A78BFA"/>
                </a:solidFill>
                <a:latin typeface="Cascadia Mono"/>
              </a:defRPr>
            </a:pPr>
            <a:r>
              <a:t>gm_d365_relationships</a:t>
            </a:r>
          </a:p>
        </p:txBody>
      </p:sp>
      <p:sp>
        <p:nvSpPr>
          <p:cNvPr id="46" name="Oval 45"/>
          <p:cNvSpPr/>
          <p:nvPr/>
        </p:nvSpPr>
        <p:spPr>
          <a:xfrm>
            <a:off x="9034272" y="2743200"/>
            <a:ext cx="201168" cy="201168"/>
          </a:xfrm>
          <a:prstGeom prst="ellipse">
            <a:avLst/>
          </a:prstGeom>
          <a:solidFill>
            <a:srgbClr val="7456EB"/>
          </a:solidFill>
          <a:ln>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72600" y="2724912"/>
            <a:ext cx="1645920" cy="182880"/>
          </a:xfrm>
          <a:prstGeom prst="rect">
            <a:avLst/>
          </a:prstGeom>
          <a:noFill/>
        </p:spPr>
        <p:txBody>
          <a:bodyPr wrap="square" lIns="27432" rIns="27432" tIns="27432" bIns="27432" anchor="t">
            <a:spAutoFit/>
          </a:bodyPr>
          <a:lstStyle/>
          <a:p>
            <a:pPr algn="l">
              <a:defRPr sz="1000" b="0">
                <a:solidFill>
                  <a:srgbClr val="E7ECF5"/>
                </a:solidFill>
                <a:latin typeface="Aptos"/>
              </a:defRPr>
            </a:pPr>
            <a:r>
              <a:t>Account / Contact</a:t>
            </a:r>
          </a:p>
        </p:txBody>
      </p:sp>
      <p:sp>
        <p:nvSpPr>
          <p:cNvPr id="48" name="Oval 47"/>
          <p:cNvSpPr/>
          <p:nvPr/>
        </p:nvSpPr>
        <p:spPr>
          <a:xfrm>
            <a:off x="9034272" y="3200400"/>
            <a:ext cx="201168" cy="201168"/>
          </a:xfrm>
          <a:prstGeom prst="ellipse">
            <a:avLst/>
          </a:prstGeom>
          <a:solidFill>
            <a:srgbClr val="3584E4"/>
          </a:solidFill>
          <a:ln>
            <a:solidFill>
              <a:srgbClr val="358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3182112"/>
            <a:ext cx="1645920" cy="182880"/>
          </a:xfrm>
          <a:prstGeom prst="rect">
            <a:avLst/>
          </a:prstGeom>
          <a:noFill/>
        </p:spPr>
        <p:txBody>
          <a:bodyPr wrap="square" lIns="27432" rIns="27432" tIns="27432" bIns="27432" anchor="t">
            <a:spAutoFit/>
          </a:bodyPr>
          <a:lstStyle/>
          <a:p>
            <a:pPr algn="l">
              <a:defRPr sz="1000" b="0">
                <a:solidFill>
                  <a:srgbClr val="E7ECF5"/>
                </a:solidFill>
                <a:latin typeface="Aptos"/>
              </a:defRPr>
            </a:pPr>
            <a:r>
              <a:t>Order</a:t>
            </a:r>
          </a:p>
        </p:txBody>
      </p:sp>
      <p:sp>
        <p:nvSpPr>
          <p:cNvPr id="50" name="Oval 49"/>
          <p:cNvSpPr/>
          <p:nvPr/>
        </p:nvSpPr>
        <p:spPr>
          <a:xfrm>
            <a:off x="9034272" y="3657600"/>
            <a:ext cx="201168" cy="201168"/>
          </a:xfrm>
          <a:prstGeom prst="ellipse">
            <a:avLst/>
          </a:prstGeom>
          <a:solidFill>
            <a:srgbClr val="1CBEB8"/>
          </a:solidFill>
          <a:ln>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72600" y="3639312"/>
            <a:ext cx="1645920" cy="182880"/>
          </a:xfrm>
          <a:prstGeom prst="rect">
            <a:avLst/>
          </a:prstGeom>
          <a:noFill/>
        </p:spPr>
        <p:txBody>
          <a:bodyPr wrap="square" lIns="27432" rIns="27432" tIns="27432" bIns="27432" anchor="t">
            <a:spAutoFit/>
          </a:bodyPr>
          <a:lstStyle/>
          <a:p>
            <a:pPr algn="l">
              <a:defRPr sz="1000" b="0">
                <a:solidFill>
                  <a:srgbClr val="E7ECF5"/>
                </a:solidFill>
                <a:latin typeface="Aptos"/>
              </a:defRPr>
            </a:pPr>
            <a:r>
              <a:t>Order Line</a:t>
            </a:r>
          </a:p>
        </p:txBody>
      </p:sp>
      <p:sp>
        <p:nvSpPr>
          <p:cNvPr id="52" name="Oval 51"/>
          <p:cNvSpPr/>
          <p:nvPr/>
        </p:nvSpPr>
        <p:spPr>
          <a:xfrm>
            <a:off x="9034272" y="4114800"/>
            <a:ext cx="201168" cy="201168"/>
          </a:xfrm>
          <a:prstGeom prst="ellipse">
            <a:avLst/>
          </a:prstGeom>
          <a:solidFill>
            <a:srgbClr val="2EA44F"/>
          </a:solidFill>
          <a:ln>
            <a:solidFill>
              <a:srgbClr val="2EA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72600" y="4096512"/>
            <a:ext cx="1645920" cy="182880"/>
          </a:xfrm>
          <a:prstGeom prst="rect">
            <a:avLst/>
          </a:prstGeom>
          <a:noFill/>
        </p:spPr>
        <p:txBody>
          <a:bodyPr wrap="square" lIns="27432" rIns="27432" tIns="27432" bIns="27432" anchor="t">
            <a:spAutoFit/>
          </a:bodyPr>
          <a:lstStyle/>
          <a:p>
            <a:pPr algn="l">
              <a:defRPr sz="1000" b="0">
                <a:solidFill>
                  <a:srgbClr val="E7ECF5"/>
                </a:solidFill>
                <a:latin typeface="Aptos"/>
              </a:defRPr>
            </a:pPr>
            <a:r>
              <a:t>Product</a:t>
            </a:r>
          </a:p>
        </p:txBody>
      </p:sp>
      <p:sp>
        <p:nvSpPr>
          <p:cNvPr id="54" name="Oval 53"/>
          <p:cNvSpPr/>
          <p:nvPr/>
        </p:nvSpPr>
        <p:spPr>
          <a:xfrm>
            <a:off x="9034272" y="4572000"/>
            <a:ext cx="201168" cy="201168"/>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72600" y="4553712"/>
            <a:ext cx="1645920" cy="182880"/>
          </a:xfrm>
          <a:prstGeom prst="rect">
            <a:avLst/>
          </a:prstGeom>
          <a:noFill/>
        </p:spPr>
        <p:txBody>
          <a:bodyPr wrap="square" lIns="27432" rIns="27432" tIns="27432" bIns="27432" anchor="t">
            <a:spAutoFit/>
          </a:bodyPr>
          <a:lstStyle/>
          <a:p>
            <a:pPr algn="l">
              <a:defRPr sz="1000" b="0">
                <a:solidFill>
                  <a:srgbClr val="E7ECF5"/>
                </a:solidFill>
                <a:latin typeface="Aptos"/>
              </a:defRPr>
            </a:pPr>
            <a:r>
              <a:t>Invoice</a:t>
            </a:r>
          </a:p>
        </p:txBody>
      </p:sp>
      <p:sp>
        <p:nvSpPr>
          <p:cNvPr id="56" name="Oval 55"/>
          <p:cNvSpPr/>
          <p:nvPr/>
        </p:nvSpPr>
        <p:spPr>
          <a:xfrm>
            <a:off x="9034272" y="5029200"/>
            <a:ext cx="201168" cy="201168"/>
          </a:xfrm>
          <a:prstGeom prst="ellipse">
            <a:avLst/>
          </a:prstGeom>
          <a:solidFill>
            <a:srgbClr val="DC4B4B"/>
          </a:solidFill>
          <a:ln>
            <a:solidFill>
              <a:srgbClr val="DC4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72600" y="5010912"/>
            <a:ext cx="1645920" cy="182880"/>
          </a:xfrm>
          <a:prstGeom prst="rect">
            <a:avLst/>
          </a:prstGeom>
          <a:noFill/>
        </p:spPr>
        <p:txBody>
          <a:bodyPr wrap="square" lIns="27432" rIns="27432" tIns="27432" bIns="27432" anchor="t">
            <a:spAutoFit/>
          </a:bodyPr>
          <a:lstStyle/>
          <a:p>
            <a:pPr algn="l">
              <a:defRPr sz="1000" b="0">
                <a:solidFill>
                  <a:srgbClr val="E7ECF5"/>
                </a:solidFill>
                <a:latin typeface="Aptos"/>
              </a:defRPr>
            </a:pPr>
            <a:r>
              <a:t>Service Case</a:t>
            </a:r>
          </a:p>
        </p:txBody>
      </p:sp>
      <p:sp>
        <p:nvSpPr>
          <p:cNvPr id="58" name="Rounded Rectangle 57"/>
          <p:cNvSpPr/>
          <p:nvPr/>
        </p:nvSpPr>
        <p:spPr>
          <a:xfrm>
            <a:off x="9006840" y="5486400"/>
            <a:ext cx="1920240" cy="292608"/>
          </a:xfrm>
          <a:prstGeom prst="roundRect">
            <a:avLst/>
          </a:prstGeom>
          <a:solidFill>
            <a:srgbClr val="1CBEB8"/>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006840" y="5495544"/>
            <a:ext cx="1920240" cy="256032"/>
          </a:xfrm>
          <a:prstGeom prst="rect">
            <a:avLst/>
          </a:prstGeom>
          <a:noFill/>
        </p:spPr>
        <p:txBody>
          <a:bodyPr wrap="square" lIns="27432" rIns="27432" tIns="27432" bIns="27432" anchor="ctr">
            <a:spAutoFit/>
          </a:bodyPr>
          <a:lstStyle/>
          <a:p>
            <a:pPr algn="ctr">
              <a:defRPr sz="900" b="1">
                <a:solidFill>
                  <a:srgbClr val="0B1220"/>
                </a:solidFill>
                <a:latin typeface="Aptos"/>
              </a:defRPr>
            </a:pPr>
            <a:r>
              <a:t>GQL + visual explorer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DEMO SCRIPT</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A five-minute live demonstration</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11</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685800" y="1554480"/>
            <a:ext cx="10789920" cy="713232"/>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673352"/>
            <a:ext cx="457200" cy="457200"/>
          </a:xfrm>
          <a:prstGeom prst="ellipse">
            <a:avLst/>
          </a:prstGeom>
          <a:solidFill>
            <a:srgbClr val="7456EB"/>
          </a:solidFill>
          <a:ln>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01368"/>
            <a:ext cx="457200" cy="164592"/>
          </a:xfrm>
          <a:prstGeom prst="rect">
            <a:avLst/>
          </a:prstGeom>
          <a:noFill/>
        </p:spPr>
        <p:txBody>
          <a:bodyPr wrap="square" lIns="27432" rIns="27432" tIns="27432" bIns="27432" anchor="t">
            <a:spAutoFit/>
          </a:bodyPr>
          <a:lstStyle/>
          <a:p>
            <a:pPr algn="ctr">
              <a:defRPr sz="900" b="1">
                <a:solidFill>
                  <a:srgbClr val="F6F8FC"/>
                </a:solidFill>
                <a:latin typeface="Aptos"/>
              </a:defRPr>
            </a:pPr>
            <a:r>
              <a:t>01</a:t>
            </a:r>
          </a:p>
        </p:txBody>
      </p:sp>
      <p:sp>
        <p:nvSpPr>
          <p:cNvPr id="10" name="TextBox 9"/>
          <p:cNvSpPr txBox="1"/>
          <p:nvPr/>
        </p:nvSpPr>
        <p:spPr>
          <a:xfrm>
            <a:off x="1572768" y="1673352"/>
            <a:ext cx="2148840" cy="228600"/>
          </a:xfrm>
          <a:prstGeom prst="rect">
            <a:avLst/>
          </a:prstGeom>
          <a:noFill/>
        </p:spPr>
        <p:txBody>
          <a:bodyPr wrap="square" lIns="27432" rIns="27432" tIns="27432" bIns="27432" anchor="t">
            <a:spAutoFit/>
          </a:bodyPr>
          <a:lstStyle/>
          <a:p>
            <a:pPr algn="l">
              <a:defRPr sz="1400" b="1">
                <a:solidFill>
                  <a:srgbClr val="F6F8FC"/>
                </a:solidFill>
                <a:latin typeface="Aptos"/>
              </a:defRPr>
            </a:pPr>
            <a:r>
              <a:t>Start in Dataverse</a:t>
            </a:r>
          </a:p>
        </p:txBody>
      </p:sp>
      <p:sp>
        <p:nvSpPr>
          <p:cNvPr id="11" name="TextBox 10"/>
          <p:cNvSpPr txBox="1"/>
          <p:nvPr/>
        </p:nvSpPr>
        <p:spPr>
          <a:xfrm>
            <a:off x="3703320" y="1673352"/>
            <a:ext cx="7269480" cy="320040"/>
          </a:xfrm>
          <a:prstGeom prst="rect">
            <a:avLst/>
          </a:prstGeom>
          <a:noFill/>
        </p:spPr>
        <p:txBody>
          <a:bodyPr wrap="square" lIns="27432" rIns="27432" tIns="27432" bIns="27432" anchor="t">
            <a:spAutoFit/>
          </a:bodyPr>
          <a:lstStyle/>
          <a:p>
            <a:pPr algn="l">
              <a:defRPr sz="1200" b="0">
                <a:solidFill>
                  <a:srgbClr val="E7ECF5"/>
                </a:solidFill>
                <a:latin typeface="Aptos"/>
              </a:defRPr>
            </a:pPr>
            <a:r>
              <a:t>Show Accounts, Orders, Order Lines, Products, and their lookups.</a:t>
            </a:r>
          </a:p>
        </p:txBody>
      </p:sp>
      <p:sp>
        <p:nvSpPr>
          <p:cNvPr id="12" name="Rounded Rectangle 11"/>
          <p:cNvSpPr/>
          <p:nvPr/>
        </p:nvSpPr>
        <p:spPr>
          <a:xfrm>
            <a:off x="685800" y="2450591"/>
            <a:ext cx="10789920" cy="713232"/>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6112" y="2569463"/>
            <a:ext cx="457200" cy="457200"/>
          </a:xfrm>
          <a:prstGeom prst="ellipse">
            <a:avLst/>
          </a:prstGeom>
          <a:solidFill>
            <a:srgbClr val="3584E4"/>
          </a:solidFill>
          <a:ln>
            <a:solidFill>
              <a:srgbClr val="358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697479"/>
            <a:ext cx="457200" cy="164592"/>
          </a:xfrm>
          <a:prstGeom prst="rect">
            <a:avLst/>
          </a:prstGeom>
          <a:noFill/>
        </p:spPr>
        <p:txBody>
          <a:bodyPr wrap="square" lIns="27432" rIns="27432" tIns="27432" bIns="27432" anchor="t">
            <a:spAutoFit/>
          </a:bodyPr>
          <a:lstStyle/>
          <a:p>
            <a:pPr algn="ctr">
              <a:defRPr sz="900" b="1">
                <a:solidFill>
                  <a:srgbClr val="F6F8FC"/>
                </a:solidFill>
                <a:latin typeface="Aptos"/>
              </a:defRPr>
            </a:pPr>
            <a:r>
              <a:t>02</a:t>
            </a:r>
          </a:p>
        </p:txBody>
      </p:sp>
      <p:sp>
        <p:nvSpPr>
          <p:cNvPr id="15" name="TextBox 14"/>
          <p:cNvSpPr txBox="1"/>
          <p:nvPr/>
        </p:nvSpPr>
        <p:spPr>
          <a:xfrm>
            <a:off x="1572768" y="2569463"/>
            <a:ext cx="2148840" cy="228600"/>
          </a:xfrm>
          <a:prstGeom prst="rect">
            <a:avLst/>
          </a:prstGeom>
          <a:noFill/>
        </p:spPr>
        <p:txBody>
          <a:bodyPr wrap="square" lIns="27432" rIns="27432" tIns="27432" bIns="27432" anchor="t">
            <a:spAutoFit/>
          </a:bodyPr>
          <a:lstStyle/>
          <a:p>
            <a:pPr algn="l">
              <a:defRPr sz="1400" b="1">
                <a:solidFill>
                  <a:srgbClr val="F6F8FC"/>
                </a:solidFill>
                <a:latin typeface="Aptos"/>
              </a:defRPr>
            </a:pPr>
            <a:r>
              <a:t>Show Link data</a:t>
            </a:r>
          </a:p>
        </p:txBody>
      </p:sp>
      <p:sp>
        <p:nvSpPr>
          <p:cNvPr id="16" name="TextBox 15"/>
          <p:cNvSpPr txBox="1"/>
          <p:nvPr/>
        </p:nvSpPr>
        <p:spPr>
          <a:xfrm>
            <a:off x="3703320" y="2569463"/>
            <a:ext cx="7269480" cy="320040"/>
          </a:xfrm>
          <a:prstGeom prst="rect">
            <a:avLst/>
          </a:prstGeom>
          <a:noFill/>
        </p:spPr>
        <p:txBody>
          <a:bodyPr wrap="square" lIns="27432" rIns="27432" tIns="27432" bIns="27432" anchor="t">
            <a:spAutoFit/>
          </a:bodyPr>
          <a:lstStyle/>
          <a:p>
            <a:pPr algn="l">
              <a:defRPr sz="1200" b="0">
                <a:solidFill>
                  <a:srgbClr val="E7ECF5"/>
                </a:solidFill>
                <a:latin typeface="Aptos"/>
              </a:defRPr>
            </a:pPr>
            <a:r>
              <a:t>Confirm the seven selected tables and active synchronization.</a:t>
            </a:r>
          </a:p>
        </p:txBody>
      </p:sp>
      <p:sp>
        <p:nvSpPr>
          <p:cNvPr id="17" name="Rounded Rectangle 16"/>
          <p:cNvSpPr/>
          <p:nvPr/>
        </p:nvSpPr>
        <p:spPr>
          <a:xfrm>
            <a:off x="685800" y="3346704"/>
            <a:ext cx="10789920" cy="713232"/>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96112" y="3465576"/>
            <a:ext cx="457200" cy="457200"/>
          </a:xfrm>
          <a:prstGeom prst="ellipse">
            <a:avLst/>
          </a:prstGeom>
          <a:solidFill>
            <a:srgbClr val="1CBEB8"/>
          </a:solidFill>
          <a:ln>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3593592"/>
            <a:ext cx="457200" cy="164592"/>
          </a:xfrm>
          <a:prstGeom prst="rect">
            <a:avLst/>
          </a:prstGeom>
          <a:noFill/>
        </p:spPr>
        <p:txBody>
          <a:bodyPr wrap="square" lIns="27432" rIns="27432" tIns="27432" bIns="27432" anchor="t">
            <a:spAutoFit/>
          </a:bodyPr>
          <a:lstStyle/>
          <a:p>
            <a:pPr algn="ctr">
              <a:defRPr sz="900" b="1">
                <a:solidFill>
                  <a:srgbClr val="F6F8FC"/>
                </a:solidFill>
                <a:latin typeface="Aptos"/>
              </a:defRPr>
            </a:pPr>
            <a:r>
              <a:t>03</a:t>
            </a:r>
          </a:p>
        </p:txBody>
      </p:sp>
      <p:sp>
        <p:nvSpPr>
          <p:cNvPr id="20" name="TextBox 19"/>
          <p:cNvSpPr txBox="1"/>
          <p:nvPr/>
        </p:nvSpPr>
        <p:spPr>
          <a:xfrm>
            <a:off x="1572768" y="3465576"/>
            <a:ext cx="2148840" cy="228600"/>
          </a:xfrm>
          <a:prstGeom prst="rect">
            <a:avLst/>
          </a:prstGeom>
          <a:noFill/>
        </p:spPr>
        <p:txBody>
          <a:bodyPr wrap="square" lIns="27432" rIns="27432" tIns="27432" bIns="27432" anchor="t">
            <a:spAutoFit/>
          </a:bodyPr>
          <a:lstStyle/>
          <a:p>
            <a:pPr algn="l">
              <a:defRPr sz="1400" b="1">
                <a:solidFill>
                  <a:srgbClr val="F6F8FC"/>
                </a:solidFill>
                <a:latin typeface="Aptos"/>
              </a:defRPr>
            </a:pPr>
            <a:r>
              <a:t>Open the Lakehouses</a:t>
            </a:r>
          </a:p>
        </p:txBody>
      </p:sp>
      <p:sp>
        <p:nvSpPr>
          <p:cNvPr id="21" name="TextBox 20"/>
          <p:cNvSpPr txBox="1"/>
          <p:nvPr/>
        </p:nvSpPr>
        <p:spPr>
          <a:xfrm>
            <a:off x="3703320" y="3465576"/>
            <a:ext cx="7269480" cy="320040"/>
          </a:xfrm>
          <a:prstGeom prst="rect">
            <a:avLst/>
          </a:prstGeom>
          <a:noFill/>
        </p:spPr>
        <p:txBody>
          <a:bodyPr wrap="square" lIns="27432" rIns="27432" tIns="27432" bIns="27432" anchor="t">
            <a:spAutoFit/>
          </a:bodyPr>
          <a:lstStyle/>
          <a:p>
            <a:pPr algn="l">
              <a:defRPr sz="1200" b="0">
                <a:solidFill>
                  <a:srgbClr val="E7ECF5"/>
                </a:solidFill>
                <a:latin typeface="Aptos"/>
              </a:defRPr>
            </a:pPr>
            <a:r>
              <a:t>Contrast platform-owned landing with solution-owned curated tables.</a:t>
            </a:r>
          </a:p>
        </p:txBody>
      </p:sp>
      <p:sp>
        <p:nvSpPr>
          <p:cNvPr id="22" name="Rounded Rectangle 21"/>
          <p:cNvSpPr/>
          <p:nvPr/>
        </p:nvSpPr>
        <p:spPr>
          <a:xfrm>
            <a:off x="685800" y="4242816"/>
            <a:ext cx="10789920" cy="713232"/>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96112" y="4361688"/>
            <a:ext cx="457200" cy="45720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489704"/>
            <a:ext cx="457200" cy="164592"/>
          </a:xfrm>
          <a:prstGeom prst="rect">
            <a:avLst/>
          </a:prstGeom>
          <a:noFill/>
        </p:spPr>
        <p:txBody>
          <a:bodyPr wrap="square" lIns="27432" rIns="27432" tIns="27432" bIns="27432" anchor="t">
            <a:spAutoFit/>
          </a:bodyPr>
          <a:lstStyle/>
          <a:p>
            <a:pPr algn="ctr">
              <a:defRPr sz="900" b="1">
                <a:solidFill>
                  <a:srgbClr val="F6F8FC"/>
                </a:solidFill>
                <a:latin typeface="Aptos"/>
              </a:defRPr>
            </a:pPr>
            <a:r>
              <a:t>04</a:t>
            </a:r>
          </a:p>
        </p:txBody>
      </p:sp>
      <p:sp>
        <p:nvSpPr>
          <p:cNvPr id="25" name="TextBox 24"/>
          <p:cNvSpPr txBox="1"/>
          <p:nvPr/>
        </p:nvSpPr>
        <p:spPr>
          <a:xfrm>
            <a:off x="1572768" y="4361688"/>
            <a:ext cx="2148840" cy="228600"/>
          </a:xfrm>
          <a:prstGeom prst="rect">
            <a:avLst/>
          </a:prstGeom>
          <a:noFill/>
        </p:spPr>
        <p:txBody>
          <a:bodyPr wrap="square" lIns="27432" rIns="27432" tIns="27432" bIns="27432" anchor="t">
            <a:spAutoFit/>
          </a:bodyPr>
          <a:lstStyle/>
          <a:p>
            <a:pPr algn="l">
              <a:defRPr sz="1400" b="1">
                <a:solidFill>
                  <a:srgbClr val="F6F8FC"/>
                </a:solidFill>
                <a:latin typeface="Aptos"/>
              </a:defRPr>
            </a:pPr>
            <a:r>
              <a:t>Open the notebook</a:t>
            </a:r>
          </a:p>
        </p:txBody>
      </p:sp>
      <p:sp>
        <p:nvSpPr>
          <p:cNvPr id="26" name="TextBox 25"/>
          <p:cNvSpPr txBox="1"/>
          <p:nvPr/>
        </p:nvSpPr>
        <p:spPr>
          <a:xfrm>
            <a:off x="3703320" y="4361688"/>
            <a:ext cx="7269480" cy="320040"/>
          </a:xfrm>
          <a:prstGeom prst="rect">
            <a:avLst/>
          </a:prstGeom>
          <a:noFill/>
        </p:spPr>
        <p:txBody>
          <a:bodyPr wrap="square" lIns="27432" rIns="27432" tIns="27432" bIns="27432" anchor="t">
            <a:spAutoFit/>
          </a:bodyPr>
          <a:lstStyle/>
          <a:p>
            <a:pPr algn="l">
              <a:defRPr sz="1200" b="0">
                <a:solidFill>
                  <a:srgbClr val="E7ECF5"/>
                </a:solidFill>
                <a:latin typeface="Aptos"/>
              </a:defRPr>
            </a:pPr>
            <a:r>
              <a:t>Show mapping injection, validation, and typed table generation.</a:t>
            </a:r>
          </a:p>
        </p:txBody>
      </p:sp>
      <p:sp>
        <p:nvSpPr>
          <p:cNvPr id="27" name="Rounded Rectangle 26"/>
          <p:cNvSpPr/>
          <p:nvPr/>
        </p:nvSpPr>
        <p:spPr>
          <a:xfrm>
            <a:off x="685800" y="5138928"/>
            <a:ext cx="10789920" cy="713232"/>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96112" y="5257800"/>
            <a:ext cx="457200" cy="457200"/>
          </a:xfrm>
          <a:prstGeom prst="ellipse">
            <a:avLst/>
          </a:prstGeom>
          <a:solidFill>
            <a:srgbClr val="2EA44F"/>
          </a:solidFill>
          <a:ln>
            <a:solidFill>
              <a:srgbClr val="2EA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2" y="5385816"/>
            <a:ext cx="457200" cy="164592"/>
          </a:xfrm>
          <a:prstGeom prst="rect">
            <a:avLst/>
          </a:prstGeom>
          <a:noFill/>
        </p:spPr>
        <p:txBody>
          <a:bodyPr wrap="square" lIns="27432" rIns="27432" tIns="27432" bIns="27432" anchor="t">
            <a:spAutoFit/>
          </a:bodyPr>
          <a:lstStyle/>
          <a:p>
            <a:pPr algn="ctr">
              <a:defRPr sz="900" b="1">
                <a:solidFill>
                  <a:srgbClr val="F6F8FC"/>
                </a:solidFill>
                <a:latin typeface="Aptos"/>
              </a:defRPr>
            </a:pPr>
            <a:r>
              <a:t>05</a:t>
            </a:r>
          </a:p>
        </p:txBody>
      </p:sp>
      <p:sp>
        <p:nvSpPr>
          <p:cNvPr id="30" name="TextBox 29"/>
          <p:cNvSpPr txBox="1"/>
          <p:nvPr/>
        </p:nvSpPr>
        <p:spPr>
          <a:xfrm>
            <a:off x="1572768" y="5257800"/>
            <a:ext cx="2148840" cy="228600"/>
          </a:xfrm>
          <a:prstGeom prst="rect">
            <a:avLst/>
          </a:prstGeom>
          <a:noFill/>
        </p:spPr>
        <p:txBody>
          <a:bodyPr wrap="square" lIns="27432" rIns="27432" tIns="27432" bIns="27432" anchor="t">
            <a:spAutoFit/>
          </a:bodyPr>
          <a:lstStyle/>
          <a:p>
            <a:pPr algn="l">
              <a:defRPr sz="1400" b="1">
                <a:solidFill>
                  <a:srgbClr val="F6F8FC"/>
                </a:solidFill>
                <a:latin typeface="Aptos"/>
              </a:defRPr>
            </a:pPr>
            <a:r>
              <a:t>Open the Graph Model</a:t>
            </a:r>
          </a:p>
        </p:txBody>
      </p:sp>
      <p:sp>
        <p:nvSpPr>
          <p:cNvPr id="31" name="TextBox 30"/>
          <p:cNvSpPr txBox="1"/>
          <p:nvPr/>
        </p:nvSpPr>
        <p:spPr>
          <a:xfrm>
            <a:off x="3703320" y="5257800"/>
            <a:ext cx="7269480" cy="320040"/>
          </a:xfrm>
          <a:prstGeom prst="rect">
            <a:avLst/>
          </a:prstGeom>
          <a:noFill/>
        </p:spPr>
        <p:txBody>
          <a:bodyPr wrap="square" lIns="27432" rIns="27432" tIns="27432" bIns="27432" anchor="t">
            <a:spAutoFit/>
          </a:bodyPr>
          <a:lstStyle/>
          <a:p>
            <a:pPr algn="l">
              <a:defRPr sz="1200" b="0">
                <a:solidFill>
                  <a:srgbClr val="E7ECF5"/>
                </a:solidFill>
                <a:latin typeface="Aptos"/>
              </a:defRPr>
            </a:pPr>
            <a:r>
              <a:t>Run a multi-hop query and visually inspect the returned path.</a:t>
            </a:r>
          </a:p>
        </p:txBody>
      </p:sp>
      <p:sp>
        <p:nvSpPr>
          <p:cNvPr id="32" name="TextBox 31"/>
          <p:cNvSpPr txBox="1"/>
          <p:nvPr/>
        </p:nvSpPr>
        <p:spPr>
          <a:xfrm>
            <a:off x="1051560" y="6126480"/>
            <a:ext cx="10058400" cy="228600"/>
          </a:xfrm>
          <a:prstGeom prst="rect">
            <a:avLst/>
          </a:prstGeom>
          <a:noFill/>
        </p:spPr>
        <p:txBody>
          <a:bodyPr wrap="square" lIns="27432" rIns="27432" tIns="27432" bIns="27432" anchor="t">
            <a:spAutoFit/>
          </a:bodyPr>
          <a:lstStyle/>
          <a:p>
            <a:pPr algn="ctr">
              <a:defRPr sz="1200" b="1">
                <a:solidFill>
                  <a:srgbClr val="A78BFA"/>
                </a:solidFill>
                <a:latin typeface="Aptos"/>
              </a:defRPr>
            </a:pPr>
            <a:r>
              <a:t>Narrative: operational relationship → managed landing → governed reconstruction → native graph insight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QUERY + RESULT</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The same relationship becomes a readable GQL path</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12</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640080" y="1572768"/>
            <a:ext cx="5577840" cy="4480560"/>
          </a:xfrm>
          <a:prstGeom prst="roundRect">
            <a:avLst/>
          </a:prstGeom>
          <a:solidFill>
            <a:srgbClr val="080D18"/>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59" y="1709928"/>
            <a:ext cx="2011680" cy="292608"/>
          </a:xfrm>
          <a:prstGeom prst="roundRect">
            <a:avLst/>
          </a:prstGeom>
          <a:solidFill>
            <a:srgbClr val="1B2741"/>
          </a:solidFill>
          <a:ln w="12700">
            <a:solidFill>
              <a:srgbClr val="1B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719072"/>
            <a:ext cx="2011680" cy="256032"/>
          </a:xfrm>
          <a:prstGeom prst="rect">
            <a:avLst/>
          </a:prstGeom>
          <a:noFill/>
        </p:spPr>
        <p:txBody>
          <a:bodyPr wrap="square" lIns="27432" rIns="27432" tIns="27432" bIns="27432" anchor="ctr">
            <a:spAutoFit/>
          </a:bodyPr>
          <a:lstStyle/>
          <a:p>
            <a:pPr algn="ctr">
              <a:defRPr sz="900" b="1">
                <a:solidFill>
                  <a:srgbClr val="A78BFA"/>
                </a:solidFill>
                <a:latin typeface="Aptos"/>
              </a:defRPr>
            </a:pPr>
            <a:r>
              <a:t>Validated GQL</a:t>
            </a:r>
          </a:p>
        </p:txBody>
      </p:sp>
      <p:sp>
        <p:nvSpPr>
          <p:cNvPr id="10" name="TextBox 9"/>
          <p:cNvSpPr txBox="1"/>
          <p:nvPr/>
        </p:nvSpPr>
        <p:spPr>
          <a:xfrm>
            <a:off x="822959" y="2103120"/>
            <a:ext cx="5212079" cy="3822192"/>
          </a:xfrm>
          <a:prstGeom prst="rect">
            <a:avLst/>
          </a:prstGeom>
          <a:noFill/>
        </p:spPr>
        <p:txBody>
          <a:bodyPr wrap="square" lIns="27432" rIns="27432" tIns="27432" bIns="27432" anchor="t">
            <a:spAutoFit/>
          </a:bodyPr>
          <a:lstStyle/>
          <a:p>
            <a:pPr algn="l">
              <a:defRPr sz="1100" b="0">
                <a:solidFill>
                  <a:srgbClr val="E7ECF5"/>
                </a:solidFill>
                <a:latin typeface="Cascadia Mono"/>
              </a:defRPr>
            </a:pPr>
            <a:r>
              <a:t>MATCH</a:t>
            </a:r>
            <a:br/>
            <a:r>
              <a:t>  (a:Account)-[:PLACED]-&gt;(o:`Order`)</a:t>
            </a:r>
            <a:br/>
            <a:r>
              <a:t>  -[:`CONTAINS`]-&gt;(line:OrderLine)</a:t>
            </a:r>
            <a:br/>
            <a:r>
              <a:t>  -[:`REFERENCES`]-&gt;(p:`Product`)</a:t>
            </a:r>
            <a:br/>
            <a:r>
              <a:t>RETURN</a:t>
            </a:r>
            <a:br/>
            <a:r>
              <a:t>  a.`label` AS account_name,</a:t>
            </a:r>
            <a:br/>
            <a:r>
              <a:t>  o.`label` AS order_name,</a:t>
            </a:r>
            <a:br/>
            <a:r>
              <a:t>  p.`label` AS product_name;</a:t>
            </a:r>
          </a:p>
        </p:txBody>
      </p:sp>
      <p:sp>
        <p:nvSpPr>
          <p:cNvPr id="11" name="Rounded Rectangle 10"/>
          <p:cNvSpPr/>
          <p:nvPr/>
        </p:nvSpPr>
        <p:spPr>
          <a:xfrm>
            <a:off x="6473952" y="1572768"/>
            <a:ext cx="5074920" cy="4480560"/>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1847088"/>
            <a:ext cx="2011680" cy="274320"/>
          </a:xfrm>
          <a:prstGeom prst="rect">
            <a:avLst/>
          </a:prstGeom>
          <a:noFill/>
        </p:spPr>
        <p:txBody>
          <a:bodyPr wrap="square" lIns="27432" rIns="27432" tIns="27432" bIns="27432" anchor="t">
            <a:spAutoFit/>
          </a:bodyPr>
          <a:lstStyle/>
          <a:p>
            <a:pPr algn="l">
              <a:defRPr sz="1800" b="1">
                <a:solidFill>
                  <a:srgbClr val="F6F8FC"/>
                </a:solidFill>
                <a:latin typeface="Aptos"/>
              </a:defRPr>
            </a:pPr>
            <a:r>
              <a:t>Returned paths</a:t>
            </a:r>
          </a:p>
        </p:txBody>
      </p:sp>
      <p:sp>
        <p:nvSpPr>
          <p:cNvPr id="13" name="TextBox 12"/>
          <p:cNvSpPr txBox="1"/>
          <p:nvPr/>
        </p:nvSpPr>
        <p:spPr>
          <a:xfrm>
            <a:off x="6766560" y="2395728"/>
            <a:ext cx="2240280" cy="201168"/>
          </a:xfrm>
          <a:prstGeom prst="rect">
            <a:avLst/>
          </a:prstGeom>
          <a:noFill/>
        </p:spPr>
        <p:txBody>
          <a:bodyPr wrap="square" lIns="27432" rIns="27432" tIns="27432" bIns="27432" anchor="t">
            <a:spAutoFit/>
          </a:bodyPr>
          <a:lstStyle/>
          <a:p>
            <a:pPr algn="l">
              <a:defRPr sz="900" b="1">
                <a:solidFill>
                  <a:srgbClr val="AAB6CC"/>
                </a:solidFill>
                <a:latin typeface="Aptos"/>
              </a:defRPr>
            </a:pPr>
            <a:r>
              <a:t>ACCOUNT</a:t>
            </a:r>
          </a:p>
        </p:txBody>
      </p:sp>
      <p:sp>
        <p:nvSpPr>
          <p:cNvPr id="14" name="TextBox 13"/>
          <p:cNvSpPr txBox="1"/>
          <p:nvPr/>
        </p:nvSpPr>
        <p:spPr>
          <a:xfrm>
            <a:off x="9189720" y="2395728"/>
            <a:ext cx="1920240" cy="201168"/>
          </a:xfrm>
          <a:prstGeom prst="rect">
            <a:avLst/>
          </a:prstGeom>
          <a:noFill/>
        </p:spPr>
        <p:txBody>
          <a:bodyPr wrap="square" lIns="27432" rIns="27432" tIns="27432" bIns="27432" anchor="t">
            <a:spAutoFit/>
          </a:bodyPr>
          <a:lstStyle/>
          <a:p>
            <a:pPr algn="l">
              <a:defRPr sz="900" b="1">
                <a:solidFill>
                  <a:srgbClr val="AAB6CC"/>
                </a:solidFill>
                <a:latin typeface="Aptos"/>
              </a:defRPr>
            </a:pPr>
            <a:r>
              <a:t>PRODUCT</a:t>
            </a:r>
          </a:p>
        </p:txBody>
      </p:sp>
      <p:cxnSp>
        <p:nvCxnSpPr>
          <p:cNvPr id="15" name="Connector 14"/>
          <p:cNvCxnSpPr/>
          <p:nvPr/>
        </p:nvCxnSpPr>
        <p:spPr>
          <a:xfrm>
            <a:off x="6766560" y="2670048"/>
            <a:ext cx="4389120"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766560" y="2852928"/>
            <a:ext cx="2240280" cy="384048"/>
          </a:xfrm>
          <a:prstGeom prst="rect">
            <a:avLst/>
          </a:prstGeom>
          <a:noFill/>
        </p:spPr>
        <p:txBody>
          <a:bodyPr wrap="square" lIns="27432" rIns="27432" tIns="27432" bIns="27432" anchor="t">
            <a:spAutoFit/>
          </a:bodyPr>
          <a:lstStyle/>
          <a:p>
            <a:pPr algn="l">
              <a:defRPr sz="1000" b="1">
                <a:solidFill>
                  <a:srgbClr val="E7ECF5"/>
                </a:solidFill>
                <a:latin typeface="Aptos"/>
              </a:defRPr>
            </a:pPr>
            <a:r>
              <a:t>Contoso City Services</a:t>
            </a:r>
          </a:p>
        </p:txBody>
      </p:sp>
      <p:sp>
        <p:nvSpPr>
          <p:cNvPr id="17" name="TextBox 16"/>
          <p:cNvSpPr txBox="1"/>
          <p:nvPr/>
        </p:nvSpPr>
        <p:spPr>
          <a:xfrm>
            <a:off x="9189720" y="2852928"/>
            <a:ext cx="1920240" cy="384048"/>
          </a:xfrm>
          <a:prstGeom prst="rect">
            <a:avLst/>
          </a:prstGeom>
          <a:noFill/>
        </p:spPr>
        <p:txBody>
          <a:bodyPr wrap="square" lIns="27432" rIns="27432" tIns="27432" bIns="27432" anchor="t">
            <a:spAutoFit/>
          </a:bodyPr>
          <a:lstStyle/>
          <a:p>
            <a:pPr algn="l">
              <a:defRPr sz="1000" b="0">
                <a:solidFill>
                  <a:srgbClr val="A78BFA"/>
                </a:solidFill>
                <a:latin typeface="Aptos"/>
              </a:defRPr>
            </a:pPr>
            <a:r>
              <a:t>Civic Permitting Suite</a:t>
            </a:r>
          </a:p>
        </p:txBody>
      </p:sp>
      <p:sp>
        <p:nvSpPr>
          <p:cNvPr id="18" name="TextBox 17"/>
          <p:cNvSpPr txBox="1"/>
          <p:nvPr/>
        </p:nvSpPr>
        <p:spPr>
          <a:xfrm>
            <a:off x="6766560" y="3493008"/>
            <a:ext cx="2240280" cy="384048"/>
          </a:xfrm>
          <a:prstGeom prst="rect">
            <a:avLst/>
          </a:prstGeom>
          <a:noFill/>
        </p:spPr>
        <p:txBody>
          <a:bodyPr wrap="square" lIns="27432" rIns="27432" tIns="27432" bIns="27432" anchor="t">
            <a:spAutoFit/>
          </a:bodyPr>
          <a:lstStyle/>
          <a:p>
            <a:pPr algn="l">
              <a:defRPr sz="1000" b="0">
                <a:solidFill>
                  <a:srgbClr val="E7ECF5"/>
                </a:solidFill>
                <a:latin typeface="Aptos"/>
              </a:defRPr>
            </a:pPr>
            <a:r>
              <a:t>Contoso City Services</a:t>
            </a:r>
          </a:p>
        </p:txBody>
      </p:sp>
      <p:sp>
        <p:nvSpPr>
          <p:cNvPr id="19" name="TextBox 18"/>
          <p:cNvSpPr txBox="1"/>
          <p:nvPr/>
        </p:nvSpPr>
        <p:spPr>
          <a:xfrm>
            <a:off x="9189720" y="3493008"/>
            <a:ext cx="1920240" cy="384048"/>
          </a:xfrm>
          <a:prstGeom prst="rect">
            <a:avLst/>
          </a:prstGeom>
          <a:noFill/>
        </p:spPr>
        <p:txBody>
          <a:bodyPr wrap="square" lIns="27432" rIns="27432" tIns="27432" bIns="27432" anchor="t">
            <a:spAutoFit/>
          </a:bodyPr>
          <a:lstStyle/>
          <a:p>
            <a:pPr algn="l">
              <a:defRPr sz="1000" b="0">
                <a:solidFill>
                  <a:srgbClr val="1CBEB8"/>
                </a:solidFill>
                <a:latin typeface="Aptos"/>
              </a:defRPr>
            </a:pPr>
            <a:r>
              <a:t>Public Safety Records</a:t>
            </a:r>
          </a:p>
        </p:txBody>
      </p:sp>
      <p:sp>
        <p:nvSpPr>
          <p:cNvPr id="20" name="TextBox 19"/>
          <p:cNvSpPr txBox="1"/>
          <p:nvPr/>
        </p:nvSpPr>
        <p:spPr>
          <a:xfrm>
            <a:off x="6766560" y="4133087"/>
            <a:ext cx="2240280" cy="384048"/>
          </a:xfrm>
          <a:prstGeom prst="rect">
            <a:avLst/>
          </a:prstGeom>
          <a:noFill/>
        </p:spPr>
        <p:txBody>
          <a:bodyPr wrap="square" lIns="27432" rIns="27432" tIns="27432" bIns="27432" anchor="t">
            <a:spAutoFit/>
          </a:bodyPr>
          <a:lstStyle/>
          <a:p>
            <a:pPr algn="l">
              <a:defRPr sz="1000" b="0">
                <a:solidFill>
                  <a:srgbClr val="E7ECF5"/>
                </a:solidFill>
                <a:latin typeface="Aptos"/>
              </a:defRPr>
            </a:pPr>
            <a:r>
              <a:t>Fabrikam County Operations</a:t>
            </a:r>
          </a:p>
        </p:txBody>
      </p:sp>
      <p:sp>
        <p:nvSpPr>
          <p:cNvPr id="21" name="TextBox 20"/>
          <p:cNvSpPr txBox="1"/>
          <p:nvPr/>
        </p:nvSpPr>
        <p:spPr>
          <a:xfrm>
            <a:off x="9189720" y="4133087"/>
            <a:ext cx="1920240" cy="384048"/>
          </a:xfrm>
          <a:prstGeom prst="rect">
            <a:avLst/>
          </a:prstGeom>
          <a:noFill/>
        </p:spPr>
        <p:txBody>
          <a:bodyPr wrap="square" lIns="27432" rIns="27432" tIns="27432" bIns="27432" anchor="t">
            <a:spAutoFit/>
          </a:bodyPr>
          <a:lstStyle/>
          <a:p>
            <a:pPr algn="l">
              <a:defRPr sz="1000" b="0">
                <a:solidFill>
                  <a:srgbClr val="A78BFA"/>
                </a:solidFill>
                <a:latin typeface="Aptos"/>
              </a:defRPr>
            </a:pPr>
            <a:r>
              <a:t>ERP Financial Management</a:t>
            </a:r>
          </a:p>
        </p:txBody>
      </p:sp>
      <p:sp>
        <p:nvSpPr>
          <p:cNvPr id="22" name="TextBox 21"/>
          <p:cNvSpPr txBox="1"/>
          <p:nvPr/>
        </p:nvSpPr>
        <p:spPr>
          <a:xfrm>
            <a:off x="6766560" y="4773168"/>
            <a:ext cx="2240280" cy="384048"/>
          </a:xfrm>
          <a:prstGeom prst="rect">
            <a:avLst/>
          </a:prstGeom>
          <a:noFill/>
        </p:spPr>
        <p:txBody>
          <a:bodyPr wrap="square" lIns="27432" rIns="27432" tIns="27432" bIns="27432" anchor="t">
            <a:spAutoFit/>
          </a:bodyPr>
          <a:lstStyle/>
          <a:p>
            <a:pPr algn="l">
              <a:defRPr sz="1000" b="0">
                <a:solidFill>
                  <a:srgbClr val="E7ECF5"/>
                </a:solidFill>
                <a:latin typeface="Aptos"/>
              </a:defRPr>
            </a:pPr>
            <a:r>
              <a:t>Northwind Public Works</a:t>
            </a:r>
          </a:p>
        </p:txBody>
      </p:sp>
      <p:sp>
        <p:nvSpPr>
          <p:cNvPr id="23" name="TextBox 22"/>
          <p:cNvSpPr txBox="1"/>
          <p:nvPr/>
        </p:nvSpPr>
        <p:spPr>
          <a:xfrm>
            <a:off x="9189720" y="4773168"/>
            <a:ext cx="1920240" cy="384048"/>
          </a:xfrm>
          <a:prstGeom prst="rect">
            <a:avLst/>
          </a:prstGeom>
          <a:noFill/>
        </p:spPr>
        <p:txBody>
          <a:bodyPr wrap="square" lIns="27432" rIns="27432" tIns="27432" bIns="27432" anchor="t">
            <a:spAutoFit/>
          </a:bodyPr>
          <a:lstStyle/>
          <a:p>
            <a:pPr algn="l">
              <a:defRPr sz="1000" b="0">
                <a:solidFill>
                  <a:srgbClr val="1CBEB8"/>
                </a:solidFill>
                <a:latin typeface="Aptos"/>
              </a:defRPr>
            </a:pPr>
            <a:r>
              <a:t>Civic Permitting Suite</a:t>
            </a:r>
          </a:p>
        </p:txBody>
      </p:sp>
      <p:sp>
        <p:nvSpPr>
          <p:cNvPr id="24" name="TextBox 23"/>
          <p:cNvSpPr txBox="1"/>
          <p:nvPr/>
        </p:nvSpPr>
        <p:spPr>
          <a:xfrm>
            <a:off x="6766560" y="5532120"/>
            <a:ext cx="4389120" cy="228600"/>
          </a:xfrm>
          <a:prstGeom prst="rect">
            <a:avLst/>
          </a:prstGeom>
          <a:noFill/>
        </p:spPr>
        <p:txBody>
          <a:bodyPr wrap="square" lIns="27432" rIns="27432" tIns="27432" bIns="27432" anchor="t">
            <a:spAutoFit/>
          </a:bodyPr>
          <a:lstStyle/>
          <a:p>
            <a:pPr algn="l">
              <a:defRPr sz="1100" b="1">
                <a:solidFill>
                  <a:srgbClr val="2EA44F"/>
                </a:solidFill>
                <a:latin typeface="Aptos"/>
              </a:defRPr>
            </a:pPr>
            <a:r>
              <a:t>4 paths • 0 orphan endpoints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CODE WALKTHROUGH</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What is in the implementation package</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13</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658368" y="1572768"/>
            <a:ext cx="10881360" cy="566928"/>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00784"/>
            <a:ext cx="3886200" cy="201168"/>
          </a:xfrm>
          <a:prstGeom prst="rect">
            <a:avLst/>
          </a:prstGeom>
          <a:noFill/>
        </p:spPr>
        <p:txBody>
          <a:bodyPr wrap="square" lIns="27432" rIns="27432" tIns="27432" bIns="27432" anchor="t">
            <a:spAutoFit/>
          </a:bodyPr>
          <a:lstStyle/>
          <a:p>
            <a:pPr algn="l">
              <a:defRPr sz="1000" b="1">
                <a:solidFill>
                  <a:srgbClr val="A78BFA"/>
                </a:solidFill>
                <a:latin typeface="Cascadia Mono"/>
              </a:defRPr>
            </a:pPr>
            <a:r>
              <a:t>config/graph-mapping.json</a:t>
            </a:r>
          </a:p>
        </p:txBody>
      </p:sp>
      <p:sp>
        <p:nvSpPr>
          <p:cNvPr id="9" name="TextBox 8"/>
          <p:cNvSpPr txBox="1"/>
          <p:nvPr/>
        </p:nvSpPr>
        <p:spPr>
          <a:xfrm>
            <a:off x="4846320" y="1682495"/>
            <a:ext cx="6263640" cy="274320"/>
          </a:xfrm>
          <a:prstGeom prst="rect">
            <a:avLst/>
          </a:prstGeom>
          <a:noFill/>
        </p:spPr>
        <p:txBody>
          <a:bodyPr wrap="square" lIns="27432" rIns="27432" tIns="27432" bIns="27432" anchor="t">
            <a:spAutoFit/>
          </a:bodyPr>
          <a:lstStyle/>
          <a:p>
            <a:pPr algn="l">
              <a:defRPr sz="1100" b="0">
                <a:solidFill>
                  <a:srgbClr val="E7ECF5"/>
                </a:solidFill>
                <a:latin typeface="Aptos"/>
              </a:defRPr>
            </a:pPr>
            <a:r>
              <a:t>Portable node, property, filter, and relationship contract</a:t>
            </a:r>
          </a:p>
        </p:txBody>
      </p:sp>
      <p:sp>
        <p:nvSpPr>
          <p:cNvPr id="10" name="Rounded Rectangle 9"/>
          <p:cNvSpPr/>
          <p:nvPr/>
        </p:nvSpPr>
        <p:spPr>
          <a:xfrm>
            <a:off x="658368" y="2286000"/>
            <a:ext cx="10881360" cy="566928"/>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414016"/>
            <a:ext cx="3886200" cy="201168"/>
          </a:xfrm>
          <a:prstGeom prst="rect">
            <a:avLst/>
          </a:prstGeom>
          <a:noFill/>
        </p:spPr>
        <p:txBody>
          <a:bodyPr wrap="square" lIns="27432" rIns="27432" tIns="27432" bIns="27432" anchor="t">
            <a:spAutoFit/>
          </a:bodyPr>
          <a:lstStyle/>
          <a:p>
            <a:pPr algn="l">
              <a:defRPr sz="1000" b="1">
                <a:solidFill>
                  <a:srgbClr val="A78BFA"/>
                </a:solidFill>
                <a:latin typeface="Cascadia Mono"/>
              </a:defRPr>
            </a:pPr>
            <a:r>
              <a:t>fabric/.../notebook-content.py</a:t>
            </a:r>
          </a:p>
        </p:txBody>
      </p:sp>
      <p:sp>
        <p:nvSpPr>
          <p:cNvPr id="12" name="TextBox 11"/>
          <p:cNvSpPr txBox="1"/>
          <p:nvPr/>
        </p:nvSpPr>
        <p:spPr>
          <a:xfrm>
            <a:off x="4846320" y="2395728"/>
            <a:ext cx="6263640" cy="274320"/>
          </a:xfrm>
          <a:prstGeom prst="rect">
            <a:avLst/>
          </a:prstGeom>
          <a:noFill/>
        </p:spPr>
        <p:txBody>
          <a:bodyPr wrap="square" lIns="27432" rIns="27432" tIns="27432" bIns="27432" anchor="t">
            <a:spAutoFit/>
          </a:bodyPr>
          <a:lstStyle/>
          <a:p>
            <a:pPr algn="l">
              <a:defRPr sz="1100" b="0">
                <a:solidFill>
                  <a:srgbClr val="E7ECF5"/>
                </a:solidFill>
                <a:latin typeface="Aptos"/>
              </a:defRPr>
            </a:pPr>
            <a:r>
              <a:t>PySpark graph projection, integrity checks, and Delta writes</a:t>
            </a:r>
          </a:p>
        </p:txBody>
      </p:sp>
      <p:sp>
        <p:nvSpPr>
          <p:cNvPr id="13" name="Rounded Rectangle 12"/>
          <p:cNvSpPr/>
          <p:nvPr/>
        </p:nvSpPr>
        <p:spPr>
          <a:xfrm>
            <a:off x="658368" y="2999232"/>
            <a:ext cx="10881360" cy="566928"/>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127248"/>
            <a:ext cx="3886200" cy="201168"/>
          </a:xfrm>
          <a:prstGeom prst="rect">
            <a:avLst/>
          </a:prstGeom>
          <a:noFill/>
        </p:spPr>
        <p:txBody>
          <a:bodyPr wrap="square" lIns="27432" rIns="27432" tIns="27432" bIns="27432" anchor="t">
            <a:spAutoFit/>
          </a:bodyPr>
          <a:lstStyle/>
          <a:p>
            <a:pPr algn="l">
              <a:defRPr sz="1000" b="1">
                <a:solidFill>
                  <a:srgbClr val="A78BFA"/>
                </a:solidFill>
                <a:latin typeface="Cascadia Mono"/>
              </a:defRPr>
            </a:pPr>
            <a:r>
              <a:t>scripts/deploy_fabric_graph.py</a:t>
            </a:r>
          </a:p>
        </p:txBody>
      </p:sp>
      <p:sp>
        <p:nvSpPr>
          <p:cNvPr id="15" name="TextBox 14"/>
          <p:cNvSpPr txBox="1"/>
          <p:nvPr/>
        </p:nvSpPr>
        <p:spPr>
          <a:xfrm>
            <a:off x="4846320" y="3108960"/>
            <a:ext cx="6263640" cy="274320"/>
          </a:xfrm>
          <a:prstGeom prst="rect">
            <a:avLst/>
          </a:prstGeom>
          <a:noFill/>
        </p:spPr>
        <p:txBody>
          <a:bodyPr wrap="square" lIns="27432" rIns="27432" tIns="27432" bIns="27432" anchor="t">
            <a:spAutoFit/>
          </a:bodyPr>
          <a:lstStyle/>
          <a:p>
            <a:pPr algn="l">
              <a:defRPr sz="1100" b="0">
                <a:solidFill>
                  <a:srgbClr val="E7ECF5"/>
                </a:solidFill>
                <a:latin typeface="Aptos"/>
              </a:defRPr>
            </a:pPr>
            <a:r>
              <a:t>Idempotent Lakehouse + notebook deployment and execution</a:t>
            </a:r>
          </a:p>
        </p:txBody>
      </p:sp>
      <p:sp>
        <p:nvSpPr>
          <p:cNvPr id="16" name="Rounded Rectangle 15"/>
          <p:cNvSpPr/>
          <p:nvPr/>
        </p:nvSpPr>
        <p:spPr>
          <a:xfrm>
            <a:off x="658368" y="3712463"/>
            <a:ext cx="10881360" cy="566928"/>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840479"/>
            <a:ext cx="3886200" cy="201168"/>
          </a:xfrm>
          <a:prstGeom prst="rect">
            <a:avLst/>
          </a:prstGeom>
          <a:noFill/>
        </p:spPr>
        <p:txBody>
          <a:bodyPr wrap="square" lIns="27432" rIns="27432" tIns="27432" bIns="27432" anchor="t">
            <a:spAutoFit/>
          </a:bodyPr>
          <a:lstStyle/>
          <a:p>
            <a:pPr algn="l">
              <a:defRPr sz="1000" b="1">
                <a:solidFill>
                  <a:srgbClr val="A78BFA"/>
                </a:solidFill>
                <a:latin typeface="Cascadia Mono"/>
              </a:defRPr>
            </a:pPr>
            <a:r>
              <a:t>scripts/deploy_fabric_graph_model.py</a:t>
            </a:r>
          </a:p>
        </p:txBody>
      </p:sp>
      <p:sp>
        <p:nvSpPr>
          <p:cNvPr id="18" name="TextBox 17"/>
          <p:cNvSpPr txBox="1"/>
          <p:nvPr/>
        </p:nvSpPr>
        <p:spPr>
          <a:xfrm>
            <a:off x="4846320" y="3822191"/>
            <a:ext cx="6263640" cy="274320"/>
          </a:xfrm>
          <a:prstGeom prst="rect">
            <a:avLst/>
          </a:prstGeom>
          <a:noFill/>
        </p:spPr>
        <p:txBody>
          <a:bodyPr wrap="square" lIns="27432" rIns="27432" tIns="27432" bIns="27432" anchor="t">
            <a:spAutoFit/>
          </a:bodyPr>
          <a:lstStyle/>
          <a:p>
            <a:pPr algn="l">
              <a:defRPr sz="1100" b="0">
                <a:solidFill>
                  <a:srgbClr val="E7ECF5"/>
                </a:solidFill>
                <a:latin typeface="Aptos"/>
              </a:defRPr>
            </a:pPr>
            <a:r>
              <a:t>Idempotent native Graph Model definition deployment</a:t>
            </a:r>
          </a:p>
        </p:txBody>
      </p:sp>
      <p:sp>
        <p:nvSpPr>
          <p:cNvPr id="19" name="Rounded Rectangle 18"/>
          <p:cNvSpPr/>
          <p:nvPr/>
        </p:nvSpPr>
        <p:spPr>
          <a:xfrm>
            <a:off x="658368" y="4425696"/>
            <a:ext cx="10881360" cy="566928"/>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553712"/>
            <a:ext cx="3886200" cy="201168"/>
          </a:xfrm>
          <a:prstGeom prst="rect">
            <a:avLst/>
          </a:prstGeom>
          <a:noFill/>
        </p:spPr>
        <p:txBody>
          <a:bodyPr wrap="square" lIns="27432" rIns="27432" tIns="27432" bIns="27432" anchor="t">
            <a:spAutoFit/>
          </a:bodyPr>
          <a:lstStyle/>
          <a:p>
            <a:pPr algn="l">
              <a:defRPr sz="1000" b="1">
                <a:solidFill>
                  <a:srgbClr val="A78BFA"/>
                </a:solidFill>
                <a:latin typeface="Cascadia Mono"/>
              </a:defRPr>
            </a:pPr>
            <a:r>
              <a:t>docs/fabric-graph-walkthrough.md</a:t>
            </a:r>
          </a:p>
        </p:txBody>
      </p:sp>
      <p:sp>
        <p:nvSpPr>
          <p:cNvPr id="21" name="TextBox 20"/>
          <p:cNvSpPr txBox="1"/>
          <p:nvPr/>
        </p:nvSpPr>
        <p:spPr>
          <a:xfrm>
            <a:off x="4846320" y="4535424"/>
            <a:ext cx="6263640" cy="274320"/>
          </a:xfrm>
          <a:prstGeom prst="rect">
            <a:avLst/>
          </a:prstGeom>
          <a:noFill/>
        </p:spPr>
        <p:txBody>
          <a:bodyPr wrap="square" lIns="27432" rIns="27432" tIns="27432" bIns="27432" anchor="t">
            <a:spAutoFit/>
          </a:bodyPr>
          <a:lstStyle/>
          <a:p>
            <a:pPr algn="l">
              <a:defRPr sz="1100" b="0">
                <a:solidFill>
                  <a:srgbClr val="E7ECF5"/>
                </a:solidFill>
                <a:latin typeface="Aptos"/>
              </a:defRPr>
            </a:pPr>
            <a:r>
              <a:t>Exact automated and portal-only reproduction procedure</a:t>
            </a:r>
          </a:p>
        </p:txBody>
      </p:sp>
      <p:sp>
        <p:nvSpPr>
          <p:cNvPr id="22" name="Rounded Rectangle 21"/>
          <p:cNvSpPr/>
          <p:nvPr/>
        </p:nvSpPr>
        <p:spPr>
          <a:xfrm>
            <a:off x="658368" y="5138928"/>
            <a:ext cx="10881360" cy="566928"/>
          </a:xfrm>
          <a:prstGeom prst="roundRect">
            <a:avLst/>
          </a:prstGeom>
          <a:solidFill>
            <a:srgbClr val="1B2741"/>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5266944"/>
            <a:ext cx="3886200" cy="201168"/>
          </a:xfrm>
          <a:prstGeom prst="rect">
            <a:avLst/>
          </a:prstGeom>
          <a:noFill/>
        </p:spPr>
        <p:txBody>
          <a:bodyPr wrap="square" lIns="27432" rIns="27432" tIns="27432" bIns="27432" anchor="t">
            <a:spAutoFit/>
          </a:bodyPr>
          <a:lstStyle/>
          <a:p>
            <a:pPr algn="l">
              <a:defRPr sz="1000" b="1">
                <a:solidFill>
                  <a:srgbClr val="A78BFA"/>
                </a:solidFill>
                <a:latin typeface="Cascadia Mono"/>
              </a:defRPr>
            </a:pPr>
            <a:r>
              <a:t>tests/test_project.py</a:t>
            </a:r>
          </a:p>
        </p:txBody>
      </p:sp>
      <p:sp>
        <p:nvSpPr>
          <p:cNvPr id="24" name="TextBox 23"/>
          <p:cNvSpPr txBox="1"/>
          <p:nvPr/>
        </p:nvSpPr>
        <p:spPr>
          <a:xfrm>
            <a:off x="4846320" y="5248656"/>
            <a:ext cx="6263640" cy="274320"/>
          </a:xfrm>
          <a:prstGeom prst="rect">
            <a:avLst/>
          </a:prstGeom>
          <a:noFill/>
        </p:spPr>
        <p:txBody>
          <a:bodyPr wrap="square" lIns="27432" rIns="27432" tIns="27432" bIns="27432" anchor="t">
            <a:spAutoFit/>
          </a:bodyPr>
          <a:lstStyle/>
          <a:p>
            <a:pPr algn="l">
              <a:defRPr sz="1100" b="0">
                <a:solidFill>
                  <a:srgbClr val="E7ECF5"/>
                </a:solidFill>
                <a:latin typeface="Aptos"/>
              </a:defRPr>
            </a:pPr>
            <a:r>
              <a:t>Schema, mapping, relationship, naming, and seed-contract checks</a:t>
            </a:r>
          </a:p>
        </p:txBody>
      </p:sp>
      <p:sp>
        <p:nvSpPr>
          <p:cNvPr id="25" name="Rounded Rectangle 24"/>
          <p:cNvSpPr/>
          <p:nvPr/>
        </p:nvSpPr>
        <p:spPr>
          <a:xfrm>
            <a:off x="658368" y="5943600"/>
            <a:ext cx="10881360" cy="457200"/>
          </a:xfrm>
          <a:prstGeom prst="roundRect">
            <a:avLst/>
          </a:prstGeom>
          <a:solidFill>
            <a:srgbClr val="080D18"/>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7" y="6108192"/>
            <a:ext cx="10515600" cy="182880"/>
          </a:xfrm>
          <a:prstGeom prst="rect">
            <a:avLst/>
          </a:prstGeom>
          <a:noFill/>
        </p:spPr>
        <p:txBody>
          <a:bodyPr wrap="square" lIns="27432" rIns="27432" tIns="27432" bIns="27432" anchor="t">
            <a:spAutoFit/>
          </a:bodyPr>
          <a:lstStyle/>
          <a:p>
            <a:pPr algn="l">
              <a:defRPr sz="900" b="0">
                <a:solidFill>
                  <a:srgbClr val="E7ECF5"/>
                </a:solidFill>
                <a:latin typeface="Cascadia Mono"/>
              </a:defRPr>
            </a:pPr>
            <a:r>
              <a:t>python scripts\deploy_fabric_graph.py --config config\deployment.local.json --run</a:t>
            </a:r>
            <a:br/>
            <a:r>
              <a:t>python scripts\deploy_fabric_graph_model.py --workspace-id &lt;guid&gt; --lakehouse-id &lt;guid&gt;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GOVERNANCE</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Security is layered—Dataverse permissions do not automatically transfer</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14</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530352" y="1965960"/>
            <a:ext cx="1828800" cy="1645920"/>
          </a:xfrm>
          <a:prstGeom prst="roundRect">
            <a:avLst/>
          </a:prstGeom>
          <a:solidFill>
            <a:srgbClr val="1B2741"/>
          </a:solidFill>
          <a:ln w="254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2267712"/>
            <a:ext cx="1499616" cy="228600"/>
          </a:xfrm>
          <a:prstGeom prst="rect">
            <a:avLst/>
          </a:prstGeom>
          <a:noFill/>
        </p:spPr>
        <p:txBody>
          <a:bodyPr wrap="square" lIns="27432" rIns="27432" tIns="27432" bIns="27432" anchor="t">
            <a:spAutoFit/>
          </a:bodyPr>
          <a:lstStyle/>
          <a:p>
            <a:pPr algn="ctr">
              <a:defRPr sz="1000" b="1">
                <a:solidFill>
                  <a:srgbClr val="7456EB"/>
                </a:solidFill>
                <a:latin typeface="Aptos"/>
              </a:defRPr>
            </a:pPr>
            <a:r>
              <a:t>IDENTITY</a:t>
            </a:r>
          </a:p>
        </p:txBody>
      </p:sp>
      <p:sp>
        <p:nvSpPr>
          <p:cNvPr id="9" name="TextBox 8"/>
          <p:cNvSpPr txBox="1"/>
          <p:nvPr/>
        </p:nvSpPr>
        <p:spPr>
          <a:xfrm>
            <a:off x="694944" y="2743200"/>
            <a:ext cx="1499616" cy="502920"/>
          </a:xfrm>
          <a:prstGeom prst="rect">
            <a:avLst/>
          </a:prstGeom>
          <a:noFill/>
        </p:spPr>
        <p:txBody>
          <a:bodyPr wrap="square" lIns="27432" rIns="27432" tIns="27432" bIns="27432" anchor="t">
            <a:spAutoFit/>
          </a:bodyPr>
          <a:lstStyle/>
          <a:p>
            <a:pPr algn="ctr">
              <a:defRPr sz="1100" b="0">
                <a:solidFill>
                  <a:srgbClr val="E7ECF5"/>
                </a:solidFill>
                <a:latin typeface="Aptos"/>
              </a:defRPr>
            </a:pPr>
            <a:r>
              <a:t>Workspace identity</a:t>
            </a:r>
            <a:br/>
            <a:r>
              <a:t>No stored secrets</a:t>
            </a:r>
          </a:p>
        </p:txBody>
      </p:sp>
      <p:cxnSp>
        <p:nvCxnSpPr>
          <p:cNvPr id="10" name="Connector 9"/>
          <p:cNvCxnSpPr/>
          <p:nvPr/>
        </p:nvCxnSpPr>
        <p:spPr>
          <a:xfrm>
            <a:off x="2478024" y="2788920"/>
            <a:ext cx="320040" cy="0"/>
          </a:xfrm>
          <a:prstGeom prst="line">
            <a:avLst/>
          </a:prstGeom>
          <a:ln w="25400">
            <a:solidFill>
              <a:srgbClr val="3A486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43784" y="1965960"/>
            <a:ext cx="1828800" cy="1645920"/>
          </a:xfrm>
          <a:prstGeom prst="roundRect">
            <a:avLst/>
          </a:prstGeom>
          <a:solidFill>
            <a:srgbClr val="1B2741"/>
          </a:solidFill>
          <a:ln w="25400">
            <a:solidFill>
              <a:srgbClr val="358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08376" y="2267712"/>
            <a:ext cx="1499616" cy="228600"/>
          </a:xfrm>
          <a:prstGeom prst="rect">
            <a:avLst/>
          </a:prstGeom>
          <a:noFill/>
        </p:spPr>
        <p:txBody>
          <a:bodyPr wrap="square" lIns="27432" rIns="27432" tIns="27432" bIns="27432" anchor="t">
            <a:spAutoFit/>
          </a:bodyPr>
          <a:lstStyle/>
          <a:p>
            <a:pPr algn="ctr">
              <a:defRPr sz="1000" b="1">
                <a:solidFill>
                  <a:srgbClr val="3584E4"/>
                </a:solidFill>
                <a:latin typeface="Aptos"/>
              </a:defRPr>
            </a:pPr>
            <a:r>
              <a:t>SOURCE</a:t>
            </a:r>
          </a:p>
        </p:txBody>
      </p:sp>
      <p:sp>
        <p:nvSpPr>
          <p:cNvPr id="13" name="TextBox 12"/>
          <p:cNvSpPr txBox="1"/>
          <p:nvPr/>
        </p:nvSpPr>
        <p:spPr>
          <a:xfrm>
            <a:off x="3008376" y="2743200"/>
            <a:ext cx="1499616" cy="502920"/>
          </a:xfrm>
          <a:prstGeom prst="rect">
            <a:avLst/>
          </a:prstGeom>
          <a:noFill/>
        </p:spPr>
        <p:txBody>
          <a:bodyPr wrap="square" lIns="27432" rIns="27432" tIns="27432" bIns="27432" anchor="t">
            <a:spAutoFit/>
          </a:bodyPr>
          <a:lstStyle/>
          <a:p>
            <a:pPr algn="ctr">
              <a:defRPr sz="1100" b="0">
                <a:solidFill>
                  <a:srgbClr val="E7ECF5"/>
                </a:solidFill>
                <a:latin typeface="Aptos"/>
              </a:defRPr>
            </a:pPr>
            <a:r>
              <a:t>Dataverse role</a:t>
            </a:r>
            <a:br/>
            <a:r>
              <a:t>Approved tables</a:t>
            </a:r>
          </a:p>
        </p:txBody>
      </p:sp>
      <p:cxnSp>
        <p:nvCxnSpPr>
          <p:cNvPr id="14" name="Connector 13"/>
          <p:cNvCxnSpPr/>
          <p:nvPr/>
        </p:nvCxnSpPr>
        <p:spPr>
          <a:xfrm>
            <a:off x="4791455" y="2788920"/>
            <a:ext cx="320041" cy="0"/>
          </a:xfrm>
          <a:prstGeom prst="line">
            <a:avLst/>
          </a:prstGeom>
          <a:ln w="25400">
            <a:solidFill>
              <a:srgbClr val="3A486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57216" y="1965960"/>
            <a:ext cx="1828800" cy="1645920"/>
          </a:xfrm>
          <a:prstGeom prst="roundRect">
            <a:avLst/>
          </a:prstGeom>
          <a:solidFill>
            <a:srgbClr val="1B2741"/>
          </a:solidFill>
          <a:ln w="254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21807" y="2267712"/>
            <a:ext cx="1499616" cy="228600"/>
          </a:xfrm>
          <a:prstGeom prst="rect">
            <a:avLst/>
          </a:prstGeom>
          <a:noFill/>
        </p:spPr>
        <p:txBody>
          <a:bodyPr wrap="square" lIns="27432" rIns="27432" tIns="27432" bIns="27432" anchor="t">
            <a:spAutoFit/>
          </a:bodyPr>
          <a:lstStyle/>
          <a:p>
            <a:pPr algn="ctr">
              <a:defRPr sz="1000" b="1">
                <a:solidFill>
                  <a:srgbClr val="1CBEB8"/>
                </a:solidFill>
                <a:latin typeface="Aptos"/>
              </a:defRPr>
            </a:pPr>
            <a:r>
              <a:t>ONELAKE</a:t>
            </a:r>
          </a:p>
        </p:txBody>
      </p:sp>
      <p:sp>
        <p:nvSpPr>
          <p:cNvPr id="17" name="TextBox 16"/>
          <p:cNvSpPr txBox="1"/>
          <p:nvPr/>
        </p:nvSpPr>
        <p:spPr>
          <a:xfrm>
            <a:off x="5321807" y="2743200"/>
            <a:ext cx="1499616" cy="502920"/>
          </a:xfrm>
          <a:prstGeom prst="rect">
            <a:avLst/>
          </a:prstGeom>
          <a:noFill/>
        </p:spPr>
        <p:txBody>
          <a:bodyPr wrap="square" lIns="27432" rIns="27432" tIns="27432" bIns="27432" anchor="t">
            <a:spAutoFit/>
          </a:bodyPr>
          <a:lstStyle/>
          <a:p>
            <a:pPr algn="ctr">
              <a:defRPr sz="1100" b="0">
                <a:solidFill>
                  <a:srgbClr val="E7ECF5"/>
                </a:solidFill>
                <a:latin typeface="Aptos"/>
              </a:defRPr>
            </a:pPr>
            <a:r>
              <a:t>Workspace + data access</a:t>
            </a:r>
            <a:br/>
            <a:r>
              <a:t>Least privilege</a:t>
            </a:r>
          </a:p>
        </p:txBody>
      </p:sp>
      <p:cxnSp>
        <p:nvCxnSpPr>
          <p:cNvPr id="18" name="Connector 17"/>
          <p:cNvCxnSpPr/>
          <p:nvPr/>
        </p:nvCxnSpPr>
        <p:spPr>
          <a:xfrm>
            <a:off x="7104888" y="2788920"/>
            <a:ext cx="320039" cy="0"/>
          </a:xfrm>
          <a:prstGeom prst="line">
            <a:avLst/>
          </a:prstGeom>
          <a:ln w="25400">
            <a:solidFill>
              <a:srgbClr val="3A486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470648" y="1965960"/>
            <a:ext cx="1828800" cy="1645920"/>
          </a:xfrm>
          <a:prstGeom prst="roundRect">
            <a:avLst/>
          </a:prstGeom>
          <a:solidFill>
            <a:srgbClr val="1B2741"/>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2267712"/>
            <a:ext cx="1499616" cy="228600"/>
          </a:xfrm>
          <a:prstGeom prst="rect">
            <a:avLst/>
          </a:prstGeom>
          <a:noFill/>
        </p:spPr>
        <p:txBody>
          <a:bodyPr wrap="square" lIns="27432" rIns="27432" tIns="27432" bIns="27432" anchor="t">
            <a:spAutoFit/>
          </a:bodyPr>
          <a:lstStyle/>
          <a:p>
            <a:pPr algn="ctr">
              <a:defRPr sz="1000" b="1">
                <a:solidFill>
                  <a:srgbClr val="F59E0B"/>
                </a:solidFill>
                <a:latin typeface="Aptos"/>
              </a:defRPr>
            </a:pPr>
            <a:r>
              <a:t>CONSUMPTION</a:t>
            </a:r>
          </a:p>
        </p:txBody>
      </p:sp>
      <p:sp>
        <p:nvSpPr>
          <p:cNvPr id="21" name="TextBox 20"/>
          <p:cNvSpPr txBox="1"/>
          <p:nvPr/>
        </p:nvSpPr>
        <p:spPr>
          <a:xfrm>
            <a:off x="7635240" y="2743200"/>
            <a:ext cx="1499616" cy="502920"/>
          </a:xfrm>
          <a:prstGeom prst="rect">
            <a:avLst/>
          </a:prstGeom>
          <a:noFill/>
        </p:spPr>
        <p:txBody>
          <a:bodyPr wrap="square" lIns="27432" rIns="27432" tIns="27432" bIns="27432" anchor="t">
            <a:spAutoFit/>
          </a:bodyPr>
          <a:lstStyle/>
          <a:p>
            <a:pPr algn="ctr">
              <a:defRPr sz="1100" b="0">
                <a:solidFill>
                  <a:srgbClr val="E7ECF5"/>
                </a:solidFill>
                <a:latin typeface="Aptos"/>
              </a:defRPr>
            </a:pPr>
            <a:r>
              <a:t>SQL / semantic model</a:t>
            </a:r>
            <a:br/>
            <a:r>
              <a:t>RLS + object security</a:t>
            </a:r>
          </a:p>
        </p:txBody>
      </p:sp>
      <p:cxnSp>
        <p:nvCxnSpPr>
          <p:cNvPr id="22" name="Connector 21"/>
          <p:cNvCxnSpPr/>
          <p:nvPr/>
        </p:nvCxnSpPr>
        <p:spPr>
          <a:xfrm>
            <a:off x="9418319" y="2788920"/>
            <a:ext cx="320040" cy="0"/>
          </a:xfrm>
          <a:prstGeom prst="line">
            <a:avLst/>
          </a:prstGeom>
          <a:ln w="25400">
            <a:solidFill>
              <a:srgbClr val="3A4866"/>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784080" y="1965960"/>
            <a:ext cx="1828800" cy="1645920"/>
          </a:xfrm>
          <a:prstGeom prst="roundRect">
            <a:avLst/>
          </a:prstGeom>
          <a:solidFill>
            <a:srgbClr val="1B2741"/>
          </a:solidFill>
          <a:ln w="25400">
            <a:solidFill>
              <a:srgbClr val="2EA4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48672" y="2267712"/>
            <a:ext cx="1499616" cy="228600"/>
          </a:xfrm>
          <a:prstGeom prst="rect">
            <a:avLst/>
          </a:prstGeom>
          <a:noFill/>
        </p:spPr>
        <p:txBody>
          <a:bodyPr wrap="square" lIns="27432" rIns="27432" tIns="27432" bIns="27432" anchor="t">
            <a:spAutoFit/>
          </a:bodyPr>
          <a:lstStyle/>
          <a:p>
            <a:pPr algn="ctr">
              <a:defRPr sz="1000" b="1">
                <a:solidFill>
                  <a:srgbClr val="2EA44F"/>
                </a:solidFill>
                <a:latin typeface="Aptos"/>
              </a:defRPr>
            </a:pPr>
            <a:r>
              <a:t>GOVERNANCE</a:t>
            </a:r>
          </a:p>
        </p:txBody>
      </p:sp>
      <p:sp>
        <p:nvSpPr>
          <p:cNvPr id="25" name="TextBox 24"/>
          <p:cNvSpPr txBox="1"/>
          <p:nvPr/>
        </p:nvSpPr>
        <p:spPr>
          <a:xfrm>
            <a:off x="9948672" y="2743200"/>
            <a:ext cx="1499616" cy="502920"/>
          </a:xfrm>
          <a:prstGeom prst="rect">
            <a:avLst/>
          </a:prstGeom>
          <a:noFill/>
        </p:spPr>
        <p:txBody>
          <a:bodyPr wrap="square" lIns="27432" rIns="27432" tIns="27432" bIns="27432" anchor="t">
            <a:spAutoFit/>
          </a:bodyPr>
          <a:lstStyle/>
          <a:p>
            <a:pPr algn="ctr">
              <a:defRPr sz="1100" b="0">
                <a:solidFill>
                  <a:srgbClr val="E7ECF5"/>
                </a:solidFill>
                <a:latin typeface="Aptos"/>
              </a:defRPr>
            </a:pPr>
            <a:r>
              <a:t>Labels, audit,</a:t>
            </a:r>
            <a:br/>
            <a:r>
              <a:t>monitoring</a:t>
            </a:r>
          </a:p>
        </p:txBody>
      </p:sp>
      <p:sp>
        <p:nvSpPr>
          <p:cNvPr id="26" name="Rounded Rectangle 25"/>
          <p:cNvSpPr/>
          <p:nvPr/>
        </p:nvSpPr>
        <p:spPr>
          <a:xfrm>
            <a:off x="1143000" y="4315968"/>
            <a:ext cx="9875520" cy="1097280"/>
          </a:xfrm>
          <a:prstGeom prst="roundRect">
            <a:avLst/>
          </a:prstGeom>
          <a:solidFill>
            <a:srgbClr val="141F36"/>
          </a:solidFill>
          <a:ln w="12700">
            <a:solidFill>
              <a:srgbClr val="DC4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4590288"/>
            <a:ext cx="9144000" cy="320040"/>
          </a:xfrm>
          <a:prstGeom prst="rect">
            <a:avLst/>
          </a:prstGeom>
          <a:noFill/>
        </p:spPr>
        <p:txBody>
          <a:bodyPr wrap="square" lIns="27432" rIns="27432" tIns="27432" bIns="27432" anchor="t">
            <a:spAutoFit/>
          </a:bodyPr>
          <a:lstStyle/>
          <a:p>
            <a:pPr algn="ctr">
              <a:defRPr sz="1900" b="1">
                <a:solidFill>
                  <a:srgbClr val="DC4B4B"/>
                </a:solidFill>
                <a:latin typeface="Aptos"/>
              </a:defRPr>
            </a:pPr>
            <a:r>
              <a:t>Dataverse row-level security ≠ equivalent Fabric row-level security</a:t>
            </a:r>
          </a:p>
        </p:txBody>
      </p:sp>
      <p:sp>
        <p:nvSpPr>
          <p:cNvPr id="28" name="TextBox 27"/>
          <p:cNvSpPr txBox="1"/>
          <p:nvPr/>
        </p:nvSpPr>
        <p:spPr>
          <a:xfrm>
            <a:off x="2011680" y="5029200"/>
            <a:ext cx="8138160" cy="228600"/>
          </a:xfrm>
          <a:prstGeom prst="rect">
            <a:avLst/>
          </a:prstGeom>
          <a:noFill/>
        </p:spPr>
        <p:txBody>
          <a:bodyPr wrap="square" lIns="27432" rIns="27432" tIns="27432" bIns="27432" anchor="t">
            <a:spAutoFit/>
          </a:bodyPr>
          <a:lstStyle/>
          <a:p>
            <a:pPr algn="ctr">
              <a:defRPr sz="1200" b="0">
                <a:solidFill>
                  <a:srgbClr val="E7ECF5"/>
                </a:solidFill>
                <a:latin typeface="Aptos"/>
              </a:defRPr>
            </a:pPr>
            <a:r>
              <a:t>Link only approved data and independently design Fabric authorization.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FROM PROOF TO IMPLEMENTATION</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What changes for production</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15</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685800" y="1563624"/>
            <a:ext cx="438912" cy="292608"/>
          </a:xfrm>
          <a:prstGeom prst="roundRect">
            <a:avLst/>
          </a:prstGeom>
          <a:solidFill>
            <a:srgbClr val="7456EB"/>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72768"/>
            <a:ext cx="438912" cy="256032"/>
          </a:xfrm>
          <a:prstGeom prst="rect">
            <a:avLst/>
          </a:prstGeom>
          <a:noFill/>
        </p:spPr>
        <p:txBody>
          <a:bodyPr wrap="square" lIns="27432" rIns="27432" tIns="27432" bIns="27432" anchor="ctr">
            <a:spAutoFit/>
          </a:bodyPr>
          <a:lstStyle/>
          <a:p>
            <a:pPr algn="ctr">
              <a:defRPr sz="1000" b="1">
                <a:solidFill>
                  <a:srgbClr val="F6F8FC"/>
                </a:solidFill>
                <a:latin typeface="Aptos"/>
              </a:defRPr>
            </a:pPr>
            <a:r>
              <a:t>1</a:t>
            </a:r>
          </a:p>
        </p:txBody>
      </p:sp>
      <p:sp>
        <p:nvSpPr>
          <p:cNvPr id="9" name="TextBox 8"/>
          <p:cNvSpPr txBox="1"/>
          <p:nvPr/>
        </p:nvSpPr>
        <p:spPr>
          <a:xfrm>
            <a:off x="1353312" y="1536192"/>
            <a:ext cx="1828800" cy="228600"/>
          </a:xfrm>
          <a:prstGeom prst="rect">
            <a:avLst/>
          </a:prstGeom>
          <a:noFill/>
        </p:spPr>
        <p:txBody>
          <a:bodyPr wrap="square" lIns="27432" rIns="27432" tIns="27432" bIns="27432" anchor="t">
            <a:spAutoFit/>
          </a:bodyPr>
          <a:lstStyle/>
          <a:p>
            <a:pPr algn="l">
              <a:defRPr sz="1100" b="1">
                <a:solidFill>
                  <a:srgbClr val="A78BFA"/>
                </a:solidFill>
                <a:latin typeface="Aptos"/>
              </a:defRPr>
            </a:pPr>
            <a:r>
              <a:t>SOURCE DISCOVERY</a:t>
            </a:r>
          </a:p>
        </p:txBody>
      </p:sp>
      <p:sp>
        <p:nvSpPr>
          <p:cNvPr id="10" name="TextBox 9"/>
          <p:cNvSpPr txBox="1"/>
          <p:nvPr/>
        </p:nvSpPr>
        <p:spPr>
          <a:xfrm>
            <a:off x="3246120" y="1517904"/>
            <a:ext cx="7909560" cy="512064"/>
          </a:xfrm>
          <a:prstGeom prst="rect">
            <a:avLst/>
          </a:prstGeom>
          <a:noFill/>
        </p:spPr>
        <p:txBody>
          <a:bodyPr wrap="square" lIns="27432" rIns="27432" tIns="27432" bIns="27432" anchor="t">
            <a:spAutoFit/>
          </a:bodyPr>
          <a:lstStyle/>
          <a:p>
            <a:pPr algn="l">
              <a:defRPr sz="1300" b="0">
                <a:solidFill>
                  <a:srgbClr val="E7ECF5"/>
                </a:solidFill>
                <a:latin typeface="Aptos"/>
              </a:defRPr>
            </a:pPr>
            <a:r>
              <a:t>Inventory real standard/custom entities, lookups, polymorphic fields, and many-to-many tables.</a:t>
            </a:r>
          </a:p>
        </p:txBody>
      </p:sp>
      <p:sp>
        <p:nvSpPr>
          <p:cNvPr id="11" name="Rounded Rectangle 10"/>
          <p:cNvSpPr/>
          <p:nvPr/>
        </p:nvSpPr>
        <p:spPr>
          <a:xfrm>
            <a:off x="685800" y="2459736"/>
            <a:ext cx="438912" cy="292608"/>
          </a:xfrm>
          <a:prstGeom prst="roundRect">
            <a:avLst/>
          </a:prstGeom>
          <a:solidFill>
            <a:srgbClr val="7456EB"/>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468879"/>
            <a:ext cx="438912" cy="256032"/>
          </a:xfrm>
          <a:prstGeom prst="rect">
            <a:avLst/>
          </a:prstGeom>
          <a:noFill/>
        </p:spPr>
        <p:txBody>
          <a:bodyPr wrap="square" lIns="27432" rIns="27432" tIns="27432" bIns="27432" anchor="ctr">
            <a:spAutoFit/>
          </a:bodyPr>
          <a:lstStyle/>
          <a:p>
            <a:pPr algn="ctr">
              <a:defRPr sz="1000" b="1">
                <a:solidFill>
                  <a:srgbClr val="F6F8FC"/>
                </a:solidFill>
                <a:latin typeface="Aptos"/>
              </a:defRPr>
            </a:pPr>
            <a:r>
              <a:t>2</a:t>
            </a:r>
          </a:p>
        </p:txBody>
      </p:sp>
      <p:sp>
        <p:nvSpPr>
          <p:cNvPr id="13" name="TextBox 12"/>
          <p:cNvSpPr txBox="1"/>
          <p:nvPr/>
        </p:nvSpPr>
        <p:spPr>
          <a:xfrm>
            <a:off x="1353312" y="2432304"/>
            <a:ext cx="1828800" cy="228600"/>
          </a:xfrm>
          <a:prstGeom prst="rect">
            <a:avLst/>
          </a:prstGeom>
          <a:noFill/>
        </p:spPr>
        <p:txBody>
          <a:bodyPr wrap="square" lIns="27432" rIns="27432" tIns="27432" bIns="27432" anchor="t">
            <a:spAutoFit/>
          </a:bodyPr>
          <a:lstStyle/>
          <a:p>
            <a:pPr algn="l">
              <a:defRPr sz="1100" b="1">
                <a:solidFill>
                  <a:srgbClr val="A78BFA"/>
                </a:solidFill>
                <a:latin typeface="Aptos"/>
              </a:defRPr>
            </a:pPr>
            <a:r>
              <a:t>SCOPE + SECURITY</a:t>
            </a:r>
          </a:p>
        </p:txBody>
      </p:sp>
      <p:sp>
        <p:nvSpPr>
          <p:cNvPr id="14" name="TextBox 13"/>
          <p:cNvSpPr txBox="1"/>
          <p:nvPr/>
        </p:nvSpPr>
        <p:spPr>
          <a:xfrm>
            <a:off x="3246120" y="2414016"/>
            <a:ext cx="7909560" cy="512064"/>
          </a:xfrm>
          <a:prstGeom prst="rect">
            <a:avLst/>
          </a:prstGeom>
          <a:noFill/>
        </p:spPr>
        <p:txBody>
          <a:bodyPr wrap="square" lIns="27432" rIns="27432" tIns="27432" bIns="27432" anchor="t">
            <a:spAutoFit/>
          </a:bodyPr>
          <a:lstStyle/>
          <a:p>
            <a:pPr algn="l">
              <a:defRPr sz="1300" b="0">
                <a:solidFill>
                  <a:srgbClr val="E7ECF5"/>
                </a:solidFill>
                <a:latin typeface="Aptos"/>
              </a:defRPr>
            </a:pPr>
            <a:r>
              <a:t>Define approved records and properties; design Fabric roles, OneLake access, and report RLS.</a:t>
            </a:r>
          </a:p>
        </p:txBody>
      </p:sp>
      <p:sp>
        <p:nvSpPr>
          <p:cNvPr id="15" name="Rounded Rectangle 14"/>
          <p:cNvSpPr/>
          <p:nvPr/>
        </p:nvSpPr>
        <p:spPr>
          <a:xfrm>
            <a:off x="685800" y="3355847"/>
            <a:ext cx="438912" cy="292608"/>
          </a:xfrm>
          <a:prstGeom prst="roundRect">
            <a:avLst/>
          </a:prstGeom>
          <a:solidFill>
            <a:srgbClr val="7456EB"/>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364991"/>
            <a:ext cx="438912" cy="256032"/>
          </a:xfrm>
          <a:prstGeom prst="rect">
            <a:avLst/>
          </a:prstGeom>
          <a:noFill/>
        </p:spPr>
        <p:txBody>
          <a:bodyPr wrap="square" lIns="27432" rIns="27432" tIns="27432" bIns="27432" anchor="ctr">
            <a:spAutoFit/>
          </a:bodyPr>
          <a:lstStyle/>
          <a:p>
            <a:pPr algn="ctr">
              <a:defRPr sz="1000" b="1">
                <a:solidFill>
                  <a:srgbClr val="F6F8FC"/>
                </a:solidFill>
                <a:latin typeface="Aptos"/>
              </a:defRPr>
            </a:pPr>
            <a:r>
              <a:t>3</a:t>
            </a:r>
          </a:p>
        </p:txBody>
      </p:sp>
      <p:sp>
        <p:nvSpPr>
          <p:cNvPr id="17" name="TextBox 16"/>
          <p:cNvSpPr txBox="1"/>
          <p:nvPr/>
        </p:nvSpPr>
        <p:spPr>
          <a:xfrm>
            <a:off x="1353312" y="3328415"/>
            <a:ext cx="1828800" cy="228600"/>
          </a:xfrm>
          <a:prstGeom prst="rect">
            <a:avLst/>
          </a:prstGeom>
          <a:noFill/>
        </p:spPr>
        <p:txBody>
          <a:bodyPr wrap="square" lIns="27432" rIns="27432" tIns="27432" bIns="27432" anchor="t">
            <a:spAutoFit/>
          </a:bodyPr>
          <a:lstStyle/>
          <a:p>
            <a:pPr algn="l">
              <a:defRPr sz="1100" b="1">
                <a:solidFill>
                  <a:srgbClr val="A78BFA"/>
                </a:solidFill>
                <a:latin typeface="Aptos"/>
              </a:defRPr>
            </a:pPr>
            <a:r>
              <a:t>SCALE</a:t>
            </a:r>
          </a:p>
        </p:txBody>
      </p:sp>
      <p:sp>
        <p:nvSpPr>
          <p:cNvPr id="18" name="TextBox 17"/>
          <p:cNvSpPr txBox="1"/>
          <p:nvPr/>
        </p:nvSpPr>
        <p:spPr>
          <a:xfrm>
            <a:off x="3246120" y="3310127"/>
            <a:ext cx="7909560" cy="512064"/>
          </a:xfrm>
          <a:prstGeom prst="rect">
            <a:avLst/>
          </a:prstGeom>
          <a:noFill/>
        </p:spPr>
        <p:txBody>
          <a:bodyPr wrap="square" lIns="27432" rIns="27432" tIns="27432" bIns="27432" anchor="t">
            <a:spAutoFit/>
          </a:bodyPr>
          <a:lstStyle/>
          <a:p>
            <a:pPr algn="l">
              <a:defRPr sz="1300" b="0">
                <a:solidFill>
                  <a:srgbClr val="E7ECF5"/>
                </a:solidFill>
                <a:latin typeface="Aptos"/>
              </a:defRPr>
            </a:pPr>
            <a:r>
              <a:t>Benchmark volumes and churn; move from full overwrite to Delta MERGE when justified.</a:t>
            </a:r>
          </a:p>
        </p:txBody>
      </p:sp>
      <p:sp>
        <p:nvSpPr>
          <p:cNvPr id="19" name="Rounded Rectangle 18"/>
          <p:cNvSpPr/>
          <p:nvPr/>
        </p:nvSpPr>
        <p:spPr>
          <a:xfrm>
            <a:off x="685800" y="4251960"/>
            <a:ext cx="438912" cy="292608"/>
          </a:xfrm>
          <a:prstGeom prst="roundRect">
            <a:avLst/>
          </a:prstGeom>
          <a:solidFill>
            <a:srgbClr val="1CBEB8"/>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261104"/>
            <a:ext cx="438912" cy="256032"/>
          </a:xfrm>
          <a:prstGeom prst="rect">
            <a:avLst/>
          </a:prstGeom>
          <a:noFill/>
        </p:spPr>
        <p:txBody>
          <a:bodyPr wrap="square" lIns="27432" rIns="27432" tIns="27432" bIns="27432" anchor="ctr">
            <a:spAutoFit/>
          </a:bodyPr>
          <a:lstStyle/>
          <a:p>
            <a:pPr algn="ctr">
              <a:defRPr sz="1000" b="1">
                <a:solidFill>
                  <a:srgbClr val="F6F8FC"/>
                </a:solidFill>
                <a:latin typeface="Aptos"/>
              </a:defRPr>
            </a:pPr>
            <a:r>
              <a:t>4</a:t>
            </a:r>
          </a:p>
        </p:txBody>
      </p:sp>
      <p:sp>
        <p:nvSpPr>
          <p:cNvPr id="21" name="TextBox 20"/>
          <p:cNvSpPr txBox="1"/>
          <p:nvPr/>
        </p:nvSpPr>
        <p:spPr>
          <a:xfrm>
            <a:off x="1353312" y="4224528"/>
            <a:ext cx="1828800" cy="228600"/>
          </a:xfrm>
          <a:prstGeom prst="rect">
            <a:avLst/>
          </a:prstGeom>
          <a:noFill/>
        </p:spPr>
        <p:txBody>
          <a:bodyPr wrap="square" lIns="27432" rIns="27432" tIns="27432" bIns="27432" anchor="t">
            <a:spAutoFit/>
          </a:bodyPr>
          <a:lstStyle/>
          <a:p>
            <a:pPr algn="l">
              <a:defRPr sz="1100" b="1">
                <a:solidFill>
                  <a:srgbClr val="1CBEB8"/>
                </a:solidFill>
                <a:latin typeface="Aptos"/>
              </a:defRPr>
            </a:pPr>
            <a:r>
              <a:t>OPERATIONS</a:t>
            </a:r>
          </a:p>
        </p:txBody>
      </p:sp>
      <p:sp>
        <p:nvSpPr>
          <p:cNvPr id="22" name="TextBox 21"/>
          <p:cNvSpPr txBox="1"/>
          <p:nvPr/>
        </p:nvSpPr>
        <p:spPr>
          <a:xfrm>
            <a:off x="3246120" y="4206240"/>
            <a:ext cx="7909560" cy="512064"/>
          </a:xfrm>
          <a:prstGeom prst="rect">
            <a:avLst/>
          </a:prstGeom>
          <a:noFill/>
        </p:spPr>
        <p:txBody>
          <a:bodyPr wrap="square" lIns="27432" rIns="27432" tIns="27432" bIns="27432" anchor="t">
            <a:spAutoFit/>
          </a:bodyPr>
          <a:lstStyle/>
          <a:p>
            <a:pPr algn="l">
              <a:defRPr sz="1300" b="0">
                <a:solidFill>
                  <a:srgbClr val="E7ECF5"/>
                </a:solidFill>
                <a:latin typeface="Aptos"/>
              </a:defRPr>
            </a:pPr>
            <a:r>
              <a:t>Schedule after link latency; alert on freshness, failures, drift, counts, and orphan endpoints.</a:t>
            </a:r>
          </a:p>
        </p:txBody>
      </p:sp>
      <p:sp>
        <p:nvSpPr>
          <p:cNvPr id="23" name="Rounded Rectangle 22"/>
          <p:cNvSpPr/>
          <p:nvPr/>
        </p:nvSpPr>
        <p:spPr>
          <a:xfrm>
            <a:off x="685800" y="5148072"/>
            <a:ext cx="438912" cy="292608"/>
          </a:xfrm>
          <a:prstGeom prst="roundRect">
            <a:avLst/>
          </a:prstGeom>
          <a:solidFill>
            <a:srgbClr val="1CBEB8"/>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157216"/>
            <a:ext cx="438912" cy="256032"/>
          </a:xfrm>
          <a:prstGeom prst="rect">
            <a:avLst/>
          </a:prstGeom>
          <a:noFill/>
        </p:spPr>
        <p:txBody>
          <a:bodyPr wrap="square" lIns="27432" rIns="27432" tIns="27432" bIns="27432" anchor="ctr">
            <a:spAutoFit/>
          </a:bodyPr>
          <a:lstStyle/>
          <a:p>
            <a:pPr algn="ctr">
              <a:defRPr sz="1000" b="1">
                <a:solidFill>
                  <a:srgbClr val="F6F8FC"/>
                </a:solidFill>
                <a:latin typeface="Aptos"/>
              </a:defRPr>
            </a:pPr>
            <a:r>
              <a:t>5</a:t>
            </a:r>
          </a:p>
        </p:txBody>
      </p:sp>
      <p:sp>
        <p:nvSpPr>
          <p:cNvPr id="25" name="TextBox 24"/>
          <p:cNvSpPr txBox="1"/>
          <p:nvPr/>
        </p:nvSpPr>
        <p:spPr>
          <a:xfrm>
            <a:off x="1353312" y="5120640"/>
            <a:ext cx="1828800" cy="228600"/>
          </a:xfrm>
          <a:prstGeom prst="rect">
            <a:avLst/>
          </a:prstGeom>
          <a:noFill/>
        </p:spPr>
        <p:txBody>
          <a:bodyPr wrap="square" lIns="27432" rIns="27432" tIns="27432" bIns="27432" anchor="t">
            <a:spAutoFit/>
          </a:bodyPr>
          <a:lstStyle/>
          <a:p>
            <a:pPr algn="l">
              <a:defRPr sz="1100" b="1">
                <a:solidFill>
                  <a:srgbClr val="1CBEB8"/>
                </a:solidFill>
                <a:latin typeface="Aptos"/>
              </a:defRPr>
            </a:pPr>
            <a:r>
              <a:t>LIFECYCLE</a:t>
            </a:r>
          </a:p>
        </p:txBody>
      </p:sp>
      <p:sp>
        <p:nvSpPr>
          <p:cNvPr id="26" name="TextBox 25"/>
          <p:cNvSpPr txBox="1"/>
          <p:nvPr/>
        </p:nvSpPr>
        <p:spPr>
          <a:xfrm>
            <a:off x="3246120" y="5102352"/>
            <a:ext cx="7909560" cy="512064"/>
          </a:xfrm>
          <a:prstGeom prst="rect">
            <a:avLst/>
          </a:prstGeom>
          <a:noFill/>
        </p:spPr>
        <p:txBody>
          <a:bodyPr wrap="square" lIns="27432" rIns="27432" tIns="27432" bIns="27432" anchor="t">
            <a:spAutoFit/>
          </a:bodyPr>
          <a:lstStyle/>
          <a:p>
            <a:pPr algn="l">
              <a:defRPr sz="1300" b="0">
                <a:solidFill>
                  <a:srgbClr val="E7ECF5"/>
                </a:solidFill>
                <a:latin typeface="Aptos"/>
              </a:defRPr>
            </a:pPr>
            <a:r>
              <a:t>Version mappings and graph models; test schema changes before promotion.</a:t>
            </a:r>
          </a:p>
        </p:txBody>
      </p:sp>
      <p:cxnSp>
        <p:nvCxnSpPr>
          <p:cNvPr id="27" name="Connector 26"/>
          <p:cNvCxnSpPr/>
          <p:nvPr/>
        </p:nvCxnSpPr>
        <p:spPr>
          <a:xfrm>
            <a:off x="685800" y="6144768"/>
            <a:ext cx="10698480"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7240" y="6245352"/>
            <a:ext cx="1828800" cy="228600"/>
          </a:xfrm>
          <a:prstGeom prst="rect">
            <a:avLst/>
          </a:prstGeom>
          <a:noFill/>
        </p:spPr>
        <p:txBody>
          <a:bodyPr wrap="square" lIns="27432" rIns="27432" tIns="27432" bIns="27432" anchor="t">
            <a:spAutoFit/>
          </a:bodyPr>
          <a:lstStyle/>
          <a:p>
            <a:pPr algn="l">
              <a:defRPr sz="1000" b="1">
                <a:solidFill>
                  <a:srgbClr val="2EA44F"/>
                </a:solidFill>
                <a:latin typeface="Aptos"/>
              </a:defRPr>
            </a:pPr>
            <a:r>
              <a:t>Validated pattern</a:t>
            </a:r>
          </a:p>
        </p:txBody>
      </p:sp>
      <p:sp>
        <p:nvSpPr>
          <p:cNvPr id="29" name="TextBox 28"/>
          <p:cNvSpPr txBox="1"/>
          <p:nvPr/>
        </p:nvSpPr>
        <p:spPr>
          <a:xfrm>
            <a:off x="2514600" y="6227064"/>
            <a:ext cx="8138160" cy="274320"/>
          </a:xfrm>
          <a:prstGeom prst="rect">
            <a:avLst/>
          </a:prstGeom>
          <a:noFill/>
        </p:spPr>
        <p:txBody>
          <a:bodyPr wrap="square" lIns="27432" rIns="27432" tIns="27432" bIns="27432" anchor="t">
            <a:spAutoFit/>
          </a:bodyPr>
          <a:lstStyle/>
          <a:p>
            <a:pPr algn="l">
              <a:defRPr sz="1100" b="0">
                <a:solidFill>
                  <a:srgbClr val="AAB6CC"/>
                </a:solidFill>
                <a:latin typeface="Aptos"/>
              </a:defRPr>
            </a:pPr>
            <a:r>
              <a:t>Exact production design depends on the real source schema, volumes, security model, and SLA.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DECISION POINT</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Graph Model now; Ontology when shared business meaning is the goal</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16</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685800" y="1600200"/>
            <a:ext cx="5212080" cy="4434840"/>
          </a:xfrm>
          <a:prstGeom prst="roundRect">
            <a:avLst/>
          </a:prstGeom>
          <a:solidFill>
            <a:srgbClr val="1B2741"/>
          </a:solidFill>
          <a:ln w="254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4480560" cy="411480"/>
          </a:xfrm>
          <a:prstGeom prst="rect">
            <a:avLst/>
          </a:prstGeom>
          <a:noFill/>
        </p:spPr>
        <p:txBody>
          <a:bodyPr wrap="square" lIns="27432" rIns="27432" tIns="27432" bIns="27432" anchor="t">
            <a:spAutoFit/>
          </a:bodyPr>
          <a:lstStyle/>
          <a:p>
            <a:pPr algn="l">
              <a:defRPr sz="2300" b="1">
                <a:solidFill>
                  <a:srgbClr val="1CBEB8"/>
                </a:solidFill>
                <a:latin typeface="Aptos"/>
              </a:defRPr>
            </a:pPr>
            <a:r>
              <a:t>Fabric Graph Model</a:t>
            </a:r>
          </a:p>
        </p:txBody>
      </p:sp>
      <p:sp>
        <p:nvSpPr>
          <p:cNvPr id="9" name="Rounded Rectangle 8"/>
          <p:cNvSpPr/>
          <p:nvPr/>
        </p:nvSpPr>
        <p:spPr>
          <a:xfrm>
            <a:off x="4160520" y="1956816"/>
            <a:ext cx="1234440" cy="292608"/>
          </a:xfrm>
          <a:prstGeom prst="roundRect">
            <a:avLst/>
          </a:prstGeom>
          <a:solidFill>
            <a:srgbClr val="1CBEB8"/>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60520" y="1965960"/>
            <a:ext cx="1234440" cy="256032"/>
          </a:xfrm>
          <a:prstGeom prst="rect">
            <a:avLst/>
          </a:prstGeom>
          <a:noFill/>
        </p:spPr>
        <p:txBody>
          <a:bodyPr wrap="square" lIns="27432" rIns="27432" tIns="27432" bIns="27432" anchor="ctr">
            <a:spAutoFit/>
          </a:bodyPr>
          <a:lstStyle/>
          <a:p>
            <a:pPr algn="ctr">
              <a:defRPr sz="900" b="1">
                <a:solidFill>
                  <a:srgbClr val="0B1220"/>
                </a:solidFill>
                <a:latin typeface="Aptos"/>
              </a:defRPr>
            </a:pPr>
            <a:r>
              <a:t>IMPLEMENTED</a:t>
            </a:r>
          </a:p>
        </p:txBody>
      </p:sp>
      <p:sp>
        <p:nvSpPr>
          <p:cNvPr id="11" name="TextBox 10"/>
          <p:cNvSpPr txBox="1"/>
          <p:nvPr/>
        </p:nvSpPr>
        <p:spPr>
          <a:xfrm>
            <a:off x="1005840" y="2651760"/>
            <a:ext cx="4297680" cy="2560320"/>
          </a:xfrm>
          <a:prstGeom prst="rect">
            <a:avLst/>
          </a:prstGeom>
          <a:noFill/>
        </p:spPr>
        <p:txBody>
          <a:bodyPr wrap="square" lIns="27432" rIns="27432">
            <a:spAutoFit/>
          </a:bodyPr>
          <a:lstStyle/>
          <a:p>
            <a:pPr>
              <a:spcAft>
                <a:spcPts val="800"/>
              </a:spcAft>
              <a:defRPr sz="1400">
                <a:solidFill>
                  <a:srgbClr val="E7ECF5"/>
                </a:solidFill>
                <a:latin typeface="Aptos"/>
              </a:defRPr>
            </a:pPr>
            <a:r>
              <a:t>•  Labeled property graph over OneLake</a:t>
            </a:r>
          </a:p>
          <a:p>
            <a:pPr>
              <a:spcAft>
                <a:spcPts val="800"/>
              </a:spcAft>
              <a:defRPr sz="1400">
                <a:solidFill>
                  <a:srgbClr val="E7ECF5"/>
                </a:solidFill>
                <a:latin typeface="Aptos"/>
              </a:defRPr>
            </a:pPr>
            <a:r>
              <a:t>•  Visual instance exploration</a:t>
            </a:r>
          </a:p>
          <a:p>
            <a:pPr>
              <a:spcAft>
                <a:spcPts val="800"/>
              </a:spcAft>
              <a:defRPr sz="1400">
                <a:solidFill>
                  <a:srgbClr val="E7ECF5"/>
                </a:solidFill>
                <a:latin typeface="Aptos"/>
              </a:defRPr>
            </a:pPr>
            <a:r>
              <a:t>•  Standards-based GQL</a:t>
            </a:r>
          </a:p>
          <a:p>
            <a:pPr>
              <a:spcAft>
                <a:spcPts val="800"/>
              </a:spcAft>
              <a:defRPr sz="1400">
                <a:solidFill>
                  <a:srgbClr val="E7ECF5"/>
                </a:solidFill>
                <a:latin typeface="Aptos"/>
              </a:defRPr>
            </a:pPr>
            <a:r>
              <a:t>•  Paths, patterns, and graph analytics</a:t>
            </a:r>
          </a:p>
          <a:p>
            <a:pPr>
              <a:spcAft>
                <a:spcPts val="800"/>
              </a:spcAft>
              <a:defRPr sz="1400">
                <a:solidFill>
                  <a:srgbClr val="E7ECF5"/>
                </a:solidFill>
                <a:latin typeface="Aptos"/>
              </a:defRPr>
            </a:pPr>
            <a:r>
              <a:t>•  Graph-aware Fabric Data Agent source</a:t>
            </a:r>
          </a:p>
        </p:txBody>
      </p:sp>
      <p:sp>
        <p:nvSpPr>
          <p:cNvPr id="12" name="Rounded Rectangle 11"/>
          <p:cNvSpPr/>
          <p:nvPr/>
        </p:nvSpPr>
        <p:spPr>
          <a:xfrm>
            <a:off x="6263640" y="1600200"/>
            <a:ext cx="5212080" cy="4434840"/>
          </a:xfrm>
          <a:prstGeom prst="roundRect">
            <a:avLst/>
          </a:prstGeom>
          <a:solidFill>
            <a:srgbClr val="1B2741"/>
          </a:solidFill>
          <a:ln w="254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920240"/>
            <a:ext cx="4480560" cy="411480"/>
          </a:xfrm>
          <a:prstGeom prst="rect">
            <a:avLst/>
          </a:prstGeom>
          <a:noFill/>
        </p:spPr>
        <p:txBody>
          <a:bodyPr wrap="square" lIns="27432" rIns="27432" tIns="27432" bIns="27432" anchor="t">
            <a:spAutoFit/>
          </a:bodyPr>
          <a:lstStyle/>
          <a:p>
            <a:pPr algn="l">
              <a:defRPr sz="2300" b="1">
                <a:solidFill>
                  <a:srgbClr val="A78BFA"/>
                </a:solidFill>
                <a:latin typeface="Aptos"/>
              </a:defRPr>
            </a:pPr>
            <a:r>
              <a:t>Fabric IQ Ontology</a:t>
            </a:r>
          </a:p>
        </p:txBody>
      </p:sp>
      <p:sp>
        <p:nvSpPr>
          <p:cNvPr id="14" name="Rounded Rectangle 13"/>
          <p:cNvSpPr/>
          <p:nvPr/>
        </p:nvSpPr>
        <p:spPr>
          <a:xfrm>
            <a:off x="9555480" y="1956816"/>
            <a:ext cx="1463040" cy="292608"/>
          </a:xfrm>
          <a:prstGeom prst="roundRect">
            <a:avLst/>
          </a:prstGeom>
          <a:solidFill>
            <a:srgbClr val="7456EB"/>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55480" y="1965960"/>
            <a:ext cx="1463040" cy="256032"/>
          </a:xfrm>
          <a:prstGeom prst="rect">
            <a:avLst/>
          </a:prstGeom>
          <a:noFill/>
        </p:spPr>
        <p:txBody>
          <a:bodyPr wrap="square" lIns="27432" rIns="27432" tIns="27432" bIns="27432" anchor="ctr">
            <a:spAutoFit/>
          </a:bodyPr>
          <a:lstStyle/>
          <a:p>
            <a:pPr algn="ctr">
              <a:defRPr sz="800" b="1">
                <a:solidFill>
                  <a:srgbClr val="F6F8FC"/>
                </a:solidFill>
                <a:latin typeface="Aptos"/>
              </a:defRPr>
            </a:pPr>
            <a:r>
              <a:t>OPTIONAL / PREVIEW</a:t>
            </a:r>
          </a:p>
        </p:txBody>
      </p:sp>
      <p:sp>
        <p:nvSpPr>
          <p:cNvPr id="16" name="TextBox 15"/>
          <p:cNvSpPr txBox="1"/>
          <p:nvPr/>
        </p:nvSpPr>
        <p:spPr>
          <a:xfrm>
            <a:off x="6583680" y="2651760"/>
            <a:ext cx="4297680" cy="2560320"/>
          </a:xfrm>
          <a:prstGeom prst="rect">
            <a:avLst/>
          </a:prstGeom>
          <a:noFill/>
        </p:spPr>
        <p:txBody>
          <a:bodyPr wrap="square" lIns="27432" rIns="27432">
            <a:spAutoFit/>
          </a:bodyPr>
          <a:lstStyle/>
          <a:p>
            <a:pPr>
              <a:spcAft>
                <a:spcPts val="800"/>
              </a:spcAft>
              <a:defRPr sz="1400">
                <a:solidFill>
                  <a:srgbClr val="E7ECF5"/>
                </a:solidFill>
                <a:latin typeface="Aptos"/>
              </a:defRPr>
            </a:pPr>
            <a:r>
              <a:t>•  Shared business vocabulary</a:t>
            </a:r>
          </a:p>
          <a:p>
            <a:pPr>
              <a:spcAft>
                <a:spcPts val="800"/>
              </a:spcAft>
              <a:defRPr sz="1400">
                <a:solidFill>
                  <a:srgbClr val="E7ECF5"/>
                </a:solidFill>
                <a:latin typeface="Aptos"/>
              </a:defRPr>
            </a:pPr>
            <a:r>
              <a:t>•  Entity and relationship semantics</a:t>
            </a:r>
          </a:p>
          <a:p>
            <a:pPr>
              <a:spcAft>
                <a:spcPts val="800"/>
              </a:spcAft>
              <a:defRPr sz="1400">
                <a:solidFill>
                  <a:srgbClr val="E7ECF5"/>
                </a:solidFill>
                <a:latin typeface="Aptos"/>
              </a:defRPr>
            </a:pPr>
            <a:r>
              <a:t>•  Rules, constraints, and actions</a:t>
            </a:r>
          </a:p>
          <a:p>
            <a:pPr>
              <a:spcAft>
                <a:spcPts val="800"/>
              </a:spcAft>
              <a:defRPr sz="1400">
                <a:solidFill>
                  <a:srgbClr val="E7ECF5"/>
                </a:solidFill>
                <a:latin typeface="Aptos"/>
              </a:defRPr>
            </a:pPr>
            <a:r>
              <a:t>•  Cross-domain governance</a:t>
            </a:r>
          </a:p>
          <a:p>
            <a:pPr>
              <a:spcAft>
                <a:spcPts val="800"/>
              </a:spcAft>
              <a:defRPr sz="1400">
                <a:solidFill>
                  <a:srgbClr val="E7ECF5"/>
                </a:solidFill>
                <a:latin typeface="Aptos"/>
              </a:defRPr>
            </a:pPr>
            <a:r>
              <a:t>•  Reusable context for people and agents</a:t>
            </a:r>
          </a:p>
        </p:txBody>
      </p:sp>
      <p:sp>
        <p:nvSpPr>
          <p:cNvPr id="17" name="TextBox 16"/>
          <p:cNvSpPr txBox="1"/>
          <p:nvPr/>
        </p:nvSpPr>
        <p:spPr>
          <a:xfrm>
            <a:off x="1828800" y="6144768"/>
            <a:ext cx="8503920" cy="228600"/>
          </a:xfrm>
          <a:prstGeom prst="rect">
            <a:avLst/>
          </a:prstGeom>
          <a:noFill/>
        </p:spPr>
        <p:txBody>
          <a:bodyPr wrap="square" lIns="27432" rIns="27432" tIns="27432" bIns="27432" anchor="t">
            <a:spAutoFit/>
          </a:bodyPr>
          <a:lstStyle/>
          <a:p>
            <a:pPr algn="ctr">
              <a:defRPr sz="1200" b="1">
                <a:solidFill>
                  <a:srgbClr val="F6F8FC"/>
                </a:solidFill>
                <a:latin typeface="Aptos"/>
              </a:defRPr>
            </a:pPr>
            <a:r>
              <a:t>The typed graph_node_* tables already provide clean ontology binding sources.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94360" y="320040"/>
            <a:ext cx="8046720" cy="228600"/>
          </a:xfrm>
          <a:prstGeom prst="rect">
            <a:avLst/>
          </a:prstGeom>
          <a:noFill/>
        </p:spPr>
        <p:txBody>
          <a:bodyPr wrap="square" lIns="27432" rIns="27432" tIns="27432" bIns="27432" anchor="t">
            <a:spAutoFit/>
          </a:bodyPr>
          <a:lstStyle/>
          <a:p>
            <a:pPr algn="l">
              <a:defRPr sz="1000" b="1">
                <a:solidFill>
                  <a:srgbClr val="A78BFA"/>
                </a:solidFill>
                <a:latin typeface="Aptos"/>
              </a:defRPr>
            </a:pPr>
            <a:r>
              <a:t>CLOSE</a:t>
            </a:r>
          </a:p>
        </p:txBody>
      </p:sp>
      <p:sp>
        <p:nvSpPr>
          <p:cNvPr id="3" name="TextBox 2"/>
          <p:cNvSpPr txBox="1"/>
          <p:nvPr/>
        </p:nvSpPr>
        <p:spPr>
          <a:xfrm>
            <a:off x="594360" y="603504"/>
            <a:ext cx="10881360" cy="594360"/>
          </a:xfrm>
          <a:prstGeom prst="rect">
            <a:avLst/>
          </a:prstGeom>
          <a:noFill/>
        </p:spPr>
        <p:txBody>
          <a:bodyPr wrap="square" lIns="27432" rIns="27432" tIns="27432" bIns="27432" anchor="t">
            <a:spAutoFit/>
          </a:bodyPr>
          <a:lstStyle/>
          <a:p>
            <a:pPr algn="l">
              <a:defRPr sz="2800" b="1">
                <a:solidFill>
                  <a:srgbClr val="F6F8FC"/>
                </a:solidFill>
                <a:latin typeface="Aptos"/>
              </a:defRPr>
            </a:pPr>
            <a:r>
              <a:t>The takeaway</a:t>
            </a:r>
          </a:p>
        </p:txBody>
      </p:sp>
      <p:sp>
        <p:nvSpPr>
          <p:cNvPr id="4" name="TextBox 3"/>
          <p:cNvSpPr txBox="1"/>
          <p:nvPr/>
        </p:nvSpPr>
        <p:spPr>
          <a:xfrm>
            <a:off x="11109960" y="329184"/>
            <a:ext cx="457200" cy="320040"/>
          </a:xfrm>
          <a:prstGeom prst="rect">
            <a:avLst/>
          </a:prstGeom>
          <a:noFill/>
        </p:spPr>
        <p:txBody>
          <a:bodyPr wrap="square" lIns="27432" rIns="27432" tIns="27432" bIns="27432" anchor="t">
            <a:spAutoFit/>
          </a:bodyPr>
          <a:lstStyle/>
          <a:p>
            <a:pPr algn="r">
              <a:defRPr sz="1200" b="1">
                <a:solidFill>
                  <a:srgbClr val="AAB6CC"/>
                </a:solidFill>
                <a:latin typeface="Aptos"/>
              </a:defRPr>
            </a:pPr>
            <a:r>
              <a:t>17</a:t>
            </a:r>
          </a:p>
        </p:txBody>
      </p:sp>
      <p:cxnSp>
        <p:nvCxnSpPr>
          <p:cNvPr id="5" name="Connector 4"/>
          <p:cNvCxnSpPr/>
          <p:nvPr/>
        </p:nvCxnSpPr>
        <p:spPr>
          <a:xfrm>
            <a:off x="594360" y="1261872"/>
            <a:ext cx="11000232" cy="0"/>
          </a:xfrm>
          <a:prstGeom prst="line">
            <a:avLst/>
          </a:prstGeom>
          <a:ln w="12700">
            <a:solidFill>
              <a:srgbClr val="3A48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37960"/>
            <a:ext cx="5669280" cy="164592"/>
          </a:xfrm>
          <a:prstGeom prst="rect">
            <a:avLst/>
          </a:prstGeom>
          <a:noFill/>
        </p:spPr>
        <p:txBody>
          <a:bodyPr wrap="square" lIns="27432" rIns="27432" tIns="27432" bIns="27432" anchor="t">
            <a:spAutoFit/>
          </a:bodyPr>
          <a:lstStyle/>
          <a:p>
            <a:pPr algn="l">
              <a:defRPr sz="800" b="0">
                <a:solidFill>
                  <a:srgbClr val="AAB6CC"/>
                </a:solidFill>
                <a:latin typeface="Aptos"/>
              </a:defRPr>
            </a:pPr>
            <a:r>
              <a:t>D365 → Fabric Graph | Demo reference architecture</a:t>
            </a:r>
          </a:p>
        </p:txBody>
      </p:sp>
      <p:sp>
        <p:nvSpPr>
          <p:cNvPr id="7" name="Rounded Rectangle 6"/>
          <p:cNvSpPr/>
          <p:nvPr/>
        </p:nvSpPr>
        <p:spPr>
          <a:xfrm>
            <a:off x="685800" y="1691640"/>
            <a:ext cx="5257800" cy="1234440"/>
          </a:xfrm>
          <a:prstGeom prst="roundRect">
            <a:avLst/>
          </a:prstGeom>
          <a:solidFill>
            <a:srgbClr val="1B2741"/>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9384"/>
            <a:ext cx="502920" cy="274320"/>
          </a:xfrm>
          <a:prstGeom prst="rect">
            <a:avLst/>
          </a:prstGeom>
          <a:noFill/>
        </p:spPr>
        <p:txBody>
          <a:bodyPr wrap="square" lIns="27432" rIns="27432" tIns="27432" bIns="27432" anchor="t">
            <a:spAutoFit/>
          </a:bodyPr>
          <a:lstStyle/>
          <a:p>
            <a:pPr algn="l">
              <a:defRPr sz="1200" b="1">
                <a:solidFill>
                  <a:srgbClr val="AAB6CC"/>
                </a:solidFill>
                <a:latin typeface="Aptos"/>
              </a:defRPr>
            </a:pPr>
            <a:r>
              <a:t>01</a:t>
            </a:r>
          </a:p>
        </p:txBody>
      </p:sp>
      <p:sp>
        <p:nvSpPr>
          <p:cNvPr id="9" name="TextBox 8"/>
          <p:cNvSpPr txBox="1"/>
          <p:nvPr/>
        </p:nvSpPr>
        <p:spPr>
          <a:xfrm>
            <a:off x="1554480" y="1901952"/>
            <a:ext cx="1371600" cy="274320"/>
          </a:xfrm>
          <a:prstGeom prst="rect">
            <a:avLst/>
          </a:prstGeom>
          <a:noFill/>
        </p:spPr>
        <p:txBody>
          <a:bodyPr wrap="square" lIns="27432" rIns="27432" tIns="27432" bIns="27432" anchor="t">
            <a:spAutoFit/>
          </a:bodyPr>
          <a:lstStyle/>
          <a:p>
            <a:pPr algn="l">
              <a:defRPr sz="1400" b="1">
                <a:solidFill>
                  <a:srgbClr val="A78BFA"/>
                </a:solidFill>
                <a:latin typeface="Aptos"/>
              </a:defRPr>
            </a:pPr>
            <a:r>
              <a:t>CONNECT</a:t>
            </a:r>
          </a:p>
        </p:txBody>
      </p:sp>
      <p:sp>
        <p:nvSpPr>
          <p:cNvPr id="10" name="TextBox 9"/>
          <p:cNvSpPr txBox="1"/>
          <p:nvPr/>
        </p:nvSpPr>
        <p:spPr>
          <a:xfrm>
            <a:off x="1554480" y="2313432"/>
            <a:ext cx="3931920" cy="384048"/>
          </a:xfrm>
          <a:prstGeom prst="rect">
            <a:avLst/>
          </a:prstGeom>
          <a:noFill/>
        </p:spPr>
        <p:txBody>
          <a:bodyPr wrap="square" lIns="27432" rIns="27432" tIns="27432" bIns="27432" anchor="t">
            <a:spAutoFit/>
          </a:bodyPr>
          <a:lstStyle/>
          <a:p>
            <a:pPr algn="l">
              <a:defRPr sz="1200" b="0">
                <a:solidFill>
                  <a:srgbClr val="E7ECF5"/>
                </a:solidFill>
                <a:latin typeface="Aptos"/>
              </a:defRPr>
            </a:pPr>
            <a:r>
              <a:t>Use Dataverse Link to Fabric for the managed OneLake landing.</a:t>
            </a:r>
          </a:p>
        </p:txBody>
      </p:sp>
      <p:sp>
        <p:nvSpPr>
          <p:cNvPr id="11" name="Rounded Rectangle 10"/>
          <p:cNvSpPr/>
          <p:nvPr/>
        </p:nvSpPr>
        <p:spPr>
          <a:xfrm>
            <a:off x="6217920" y="1691640"/>
            <a:ext cx="5257800" cy="1234440"/>
          </a:xfrm>
          <a:prstGeom prst="roundRect">
            <a:avLst/>
          </a:prstGeom>
          <a:solidFill>
            <a:srgbClr val="1B2741"/>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929384"/>
            <a:ext cx="502920" cy="274320"/>
          </a:xfrm>
          <a:prstGeom prst="rect">
            <a:avLst/>
          </a:prstGeom>
          <a:noFill/>
        </p:spPr>
        <p:txBody>
          <a:bodyPr wrap="square" lIns="27432" rIns="27432" tIns="27432" bIns="27432" anchor="t">
            <a:spAutoFit/>
          </a:bodyPr>
          <a:lstStyle/>
          <a:p>
            <a:pPr algn="l">
              <a:defRPr sz="1200" b="1">
                <a:solidFill>
                  <a:srgbClr val="AAB6CC"/>
                </a:solidFill>
                <a:latin typeface="Aptos"/>
              </a:defRPr>
            </a:pPr>
            <a:r>
              <a:t>02</a:t>
            </a:r>
          </a:p>
        </p:txBody>
      </p:sp>
      <p:sp>
        <p:nvSpPr>
          <p:cNvPr id="13" name="TextBox 12"/>
          <p:cNvSpPr txBox="1"/>
          <p:nvPr/>
        </p:nvSpPr>
        <p:spPr>
          <a:xfrm>
            <a:off x="7086600" y="1901952"/>
            <a:ext cx="1371600" cy="274320"/>
          </a:xfrm>
          <a:prstGeom prst="rect">
            <a:avLst/>
          </a:prstGeom>
          <a:noFill/>
        </p:spPr>
        <p:txBody>
          <a:bodyPr wrap="square" lIns="27432" rIns="27432" tIns="27432" bIns="27432" anchor="t">
            <a:spAutoFit/>
          </a:bodyPr>
          <a:lstStyle/>
          <a:p>
            <a:pPr algn="l">
              <a:defRPr sz="1400" b="1">
                <a:solidFill>
                  <a:srgbClr val="1CBEB8"/>
                </a:solidFill>
                <a:latin typeface="Aptos"/>
              </a:defRPr>
            </a:pPr>
            <a:r>
              <a:t>RECONSTRUCT</a:t>
            </a:r>
          </a:p>
        </p:txBody>
      </p:sp>
      <p:sp>
        <p:nvSpPr>
          <p:cNvPr id="14" name="TextBox 13"/>
          <p:cNvSpPr txBox="1"/>
          <p:nvPr/>
        </p:nvSpPr>
        <p:spPr>
          <a:xfrm>
            <a:off x="7086600" y="2313432"/>
            <a:ext cx="3931920" cy="384048"/>
          </a:xfrm>
          <a:prstGeom prst="rect">
            <a:avLst/>
          </a:prstGeom>
          <a:noFill/>
        </p:spPr>
        <p:txBody>
          <a:bodyPr wrap="square" lIns="27432" rIns="27432" tIns="27432" bIns="27432" anchor="t">
            <a:spAutoFit/>
          </a:bodyPr>
          <a:lstStyle/>
          <a:p>
            <a:pPr algn="l">
              <a:defRPr sz="1200" b="0">
                <a:solidFill>
                  <a:srgbClr val="E7ECF5"/>
                </a:solidFill>
                <a:latin typeface="Aptos"/>
              </a:defRPr>
            </a:pPr>
            <a:r>
              <a:t>Turn relational lookups into validated, typed nodes and edges.</a:t>
            </a:r>
          </a:p>
        </p:txBody>
      </p:sp>
      <p:sp>
        <p:nvSpPr>
          <p:cNvPr id="15" name="Rounded Rectangle 14"/>
          <p:cNvSpPr/>
          <p:nvPr/>
        </p:nvSpPr>
        <p:spPr>
          <a:xfrm>
            <a:off x="685800" y="3291840"/>
            <a:ext cx="5257800" cy="1234440"/>
          </a:xfrm>
          <a:prstGeom prst="roundRect">
            <a:avLst/>
          </a:prstGeom>
          <a:solidFill>
            <a:srgbClr val="1B2741"/>
          </a:solidFill>
          <a:ln w="12700">
            <a:solidFill>
              <a:srgbClr val="745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529584"/>
            <a:ext cx="502920" cy="274320"/>
          </a:xfrm>
          <a:prstGeom prst="rect">
            <a:avLst/>
          </a:prstGeom>
          <a:noFill/>
        </p:spPr>
        <p:txBody>
          <a:bodyPr wrap="square" lIns="27432" rIns="27432" tIns="27432" bIns="27432" anchor="t">
            <a:spAutoFit/>
          </a:bodyPr>
          <a:lstStyle/>
          <a:p>
            <a:pPr algn="l">
              <a:defRPr sz="1200" b="1">
                <a:solidFill>
                  <a:srgbClr val="AAB6CC"/>
                </a:solidFill>
                <a:latin typeface="Aptos"/>
              </a:defRPr>
            </a:pPr>
            <a:r>
              <a:t>03</a:t>
            </a:r>
          </a:p>
        </p:txBody>
      </p:sp>
      <p:sp>
        <p:nvSpPr>
          <p:cNvPr id="17" name="TextBox 16"/>
          <p:cNvSpPr txBox="1"/>
          <p:nvPr/>
        </p:nvSpPr>
        <p:spPr>
          <a:xfrm>
            <a:off x="1554480" y="3502152"/>
            <a:ext cx="1371600" cy="274320"/>
          </a:xfrm>
          <a:prstGeom prst="rect">
            <a:avLst/>
          </a:prstGeom>
          <a:noFill/>
        </p:spPr>
        <p:txBody>
          <a:bodyPr wrap="square" lIns="27432" rIns="27432" tIns="27432" bIns="27432" anchor="t">
            <a:spAutoFit/>
          </a:bodyPr>
          <a:lstStyle/>
          <a:p>
            <a:pPr algn="l">
              <a:defRPr sz="1400" b="1">
                <a:solidFill>
                  <a:srgbClr val="A78BFA"/>
                </a:solidFill>
                <a:latin typeface="Aptos"/>
              </a:defRPr>
            </a:pPr>
            <a:r>
              <a:t>EXPLORE</a:t>
            </a:r>
          </a:p>
        </p:txBody>
      </p:sp>
      <p:sp>
        <p:nvSpPr>
          <p:cNvPr id="18" name="TextBox 17"/>
          <p:cNvSpPr txBox="1"/>
          <p:nvPr/>
        </p:nvSpPr>
        <p:spPr>
          <a:xfrm>
            <a:off x="1554480" y="3913632"/>
            <a:ext cx="3931920" cy="384048"/>
          </a:xfrm>
          <a:prstGeom prst="rect">
            <a:avLst/>
          </a:prstGeom>
          <a:noFill/>
        </p:spPr>
        <p:txBody>
          <a:bodyPr wrap="square" lIns="27432" rIns="27432" tIns="27432" bIns="27432" anchor="t">
            <a:spAutoFit/>
          </a:bodyPr>
          <a:lstStyle/>
          <a:p>
            <a:pPr algn="l">
              <a:defRPr sz="1200" b="0">
                <a:solidFill>
                  <a:srgbClr val="E7ECF5"/>
                </a:solidFill>
                <a:latin typeface="Aptos"/>
              </a:defRPr>
            </a:pPr>
            <a:r>
              <a:t>Use native Fabric Graph Model for visual traversal and GQL.</a:t>
            </a:r>
          </a:p>
        </p:txBody>
      </p:sp>
      <p:sp>
        <p:nvSpPr>
          <p:cNvPr id="19" name="Rounded Rectangle 18"/>
          <p:cNvSpPr/>
          <p:nvPr/>
        </p:nvSpPr>
        <p:spPr>
          <a:xfrm>
            <a:off x="6217920" y="3291840"/>
            <a:ext cx="5257800" cy="1234440"/>
          </a:xfrm>
          <a:prstGeom prst="roundRect">
            <a:avLst/>
          </a:prstGeom>
          <a:solidFill>
            <a:srgbClr val="1B2741"/>
          </a:solidFill>
          <a:ln w="12700">
            <a:solidFill>
              <a:srgbClr val="1CBE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529584"/>
            <a:ext cx="502920" cy="274320"/>
          </a:xfrm>
          <a:prstGeom prst="rect">
            <a:avLst/>
          </a:prstGeom>
          <a:noFill/>
        </p:spPr>
        <p:txBody>
          <a:bodyPr wrap="square" lIns="27432" rIns="27432" tIns="27432" bIns="27432" anchor="t">
            <a:spAutoFit/>
          </a:bodyPr>
          <a:lstStyle/>
          <a:p>
            <a:pPr algn="l">
              <a:defRPr sz="1200" b="1">
                <a:solidFill>
                  <a:srgbClr val="AAB6CC"/>
                </a:solidFill>
                <a:latin typeface="Aptos"/>
              </a:defRPr>
            </a:pPr>
            <a:r>
              <a:t>04</a:t>
            </a:r>
          </a:p>
        </p:txBody>
      </p:sp>
      <p:sp>
        <p:nvSpPr>
          <p:cNvPr id="21" name="TextBox 20"/>
          <p:cNvSpPr txBox="1"/>
          <p:nvPr/>
        </p:nvSpPr>
        <p:spPr>
          <a:xfrm>
            <a:off x="7086600" y="3502152"/>
            <a:ext cx="1371600" cy="274320"/>
          </a:xfrm>
          <a:prstGeom prst="rect">
            <a:avLst/>
          </a:prstGeom>
          <a:noFill/>
        </p:spPr>
        <p:txBody>
          <a:bodyPr wrap="square" lIns="27432" rIns="27432" tIns="27432" bIns="27432" anchor="t">
            <a:spAutoFit/>
          </a:bodyPr>
          <a:lstStyle/>
          <a:p>
            <a:pPr algn="l">
              <a:defRPr sz="1400" b="1">
                <a:solidFill>
                  <a:srgbClr val="1CBEB8"/>
                </a:solidFill>
                <a:latin typeface="Aptos"/>
              </a:defRPr>
            </a:pPr>
            <a:r>
              <a:t>EXTEND</a:t>
            </a:r>
          </a:p>
        </p:txBody>
      </p:sp>
      <p:sp>
        <p:nvSpPr>
          <p:cNvPr id="22" name="TextBox 21"/>
          <p:cNvSpPr txBox="1"/>
          <p:nvPr/>
        </p:nvSpPr>
        <p:spPr>
          <a:xfrm>
            <a:off x="7086600" y="3913632"/>
            <a:ext cx="3931920" cy="384048"/>
          </a:xfrm>
          <a:prstGeom prst="rect">
            <a:avLst/>
          </a:prstGeom>
          <a:noFill/>
        </p:spPr>
        <p:txBody>
          <a:bodyPr wrap="square" lIns="27432" rIns="27432" tIns="27432" bIns="27432" anchor="t">
            <a:spAutoFit/>
          </a:bodyPr>
          <a:lstStyle/>
          <a:p>
            <a:pPr algn="l">
              <a:defRPr sz="1200" b="0">
                <a:solidFill>
                  <a:srgbClr val="E7ECF5"/>
                </a:solidFill>
                <a:latin typeface="Aptos"/>
              </a:defRPr>
            </a:pPr>
            <a:r>
              <a:t>Add analytics, graph-aware agents, or Ontology when the use case requires it.</a:t>
            </a:r>
          </a:p>
        </p:txBody>
      </p:sp>
      <p:sp>
        <p:nvSpPr>
          <p:cNvPr id="23" name="Rounded Rectangle 22"/>
          <p:cNvSpPr/>
          <p:nvPr/>
        </p:nvSpPr>
        <p:spPr>
          <a:xfrm>
            <a:off x="685800" y="5166360"/>
            <a:ext cx="10789920" cy="777240"/>
          </a:xfrm>
          <a:prstGeom prst="roundRect">
            <a:avLst/>
          </a:prstGeom>
          <a:solidFill>
            <a:srgbClr val="141F36"/>
          </a:solidFill>
          <a:ln w="12700">
            <a:solidFill>
              <a:srgbClr val="3A4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5367528"/>
            <a:ext cx="3108960" cy="256032"/>
          </a:xfrm>
          <a:prstGeom prst="rect">
            <a:avLst/>
          </a:prstGeom>
          <a:noFill/>
        </p:spPr>
        <p:txBody>
          <a:bodyPr wrap="square" lIns="27432" rIns="27432" tIns="27432" bIns="27432" anchor="t">
            <a:spAutoFit/>
          </a:bodyPr>
          <a:lstStyle/>
          <a:p>
            <a:pPr algn="l">
              <a:defRPr sz="1200" b="1">
                <a:solidFill>
                  <a:srgbClr val="F6F8FC"/>
                </a:solidFill>
                <a:latin typeface="Aptos"/>
              </a:defRPr>
            </a:pPr>
            <a:r>
              <a:t>Public implementation + full walkthrough</a:t>
            </a:r>
          </a:p>
        </p:txBody>
      </p:sp>
      <p:sp>
        <p:nvSpPr>
          <p:cNvPr id="25" name="TextBox 24"/>
          <p:cNvSpPr txBox="1"/>
          <p:nvPr/>
        </p:nvSpPr>
        <p:spPr>
          <a:xfrm>
            <a:off x="3931920" y="5367528"/>
            <a:ext cx="6949440" cy="256032"/>
          </a:xfrm>
          <a:prstGeom prst="rect">
            <a:avLst/>
          </a:prstGeom>
          <a:noFill/>
        </p:spPr>
        <p:txBody>
          <a:bodyPr wrap="square" lIns="27432" rIns="27432" tIns="27432" bIns="27432" anchor="t">
            <a:spAutoFit/>
          </a:bodyPr>
          <a:lstStyle/>
          <a:p>
            <a:pPr algn="l">
              <a:defRPr sz="1200" b="1">
                <a:solidFill>
                  <a:srgbClr val="A78BFA"/>
                </a:solidFill>
                <a:latin typeface="Cascadia Mono"/>
              </a:defRPr>
            </a:pPr>
            <a:r>
              <a:rPr>
                <a:hlinkClick r:id="rId3"/>
              </a:rPr>
              <a:t>github.com/nickTinMicrosoft/d365-fabric-graph-demo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